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566928"/>
            <a:ext cx="1691640" cy="1097280"/>
          </a:xfrm>
          <a:prstGeom prst="rect">
            <a:avLst/>
          </a:prstGeom>
          <a:solidFill>
            <a:srgbClr val="7F5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09860" y="713232"/>
            <a:ext cx="731520"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46436" y="850392"/>
            <a:ext cx="164592" cy="219456"/>
          </a:xfrm>
          <a:prstGeom prst="rect">
            <a:avLst/>
          </a:prstGeom>
          <a:solidFill>
            <a:srgbClr val="D9C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575036" y="850392"/>
            <a:ext cx="164592" cy="219456"/>
          </a:xfrm>
          <a:prstGeom prst="rect">
            <a:avLst/>
          </a:prstGeom>
          <a:solidFill>
            <a:srgbClr val="D9C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803636" y="850392"/>
            <a:ext cx="164592" cy="219456"/>
          </a:xfrm>
          <a:prstGeom prst="rect">
            <a:avLst/>
          </a:prstGeom>
          <a:solidFill>
            <a:srgbClr val="D9C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09860" y="1115568"/>
            <a:ext cx="73152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1243584"/>
            <a:ext cx="1691640" cy="310896"/>
          </a:xfrm>
          <a:prstGeom prst="rect">
            <a:avLst/>
          </a:prstGeom>
          <a:noFill/>
        </p:spPr>
        <p:txBody>
          <a:bodyPr wrap="square" anchor="t">
            <a:spAutoFit/>
          </a:bodyPr>
          <a:lstStyle/>
          <a:p>
            <a:pPr algn="ctr">
              <a:spcAft>
                <a:spcPts val="400"/>
              </a:spcAft>
            </a:pPr>
            <a:r>
              <a:rPr sz="1000" b="1">
                <a:solidFill>
                  <a:srgbClr val="FFFFFF"/>
                </a:solidFill>
                <a:latin typeface="Arial"/>
              </a:rPr>
              <a:t>WooCommerce</a:t>
            </a:r>
          </a:p>
        </p:txBody>
      </p:sp>
      <p:sp>
        <p:nvSpPr>
          <p:cNvPr id="13" name="TextBox 12"/>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4" name="TextBox 13"/>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Building a Successful eCommerce Store with WooCommerce</a:t>
            </a:r>
          </a:p>
        </p:txBody>
      </p:sp>
      <p:sp>
        <p:nvSpPr>
          <p:cNvPr id="15" name="Rectangle 14"/>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TGS-2026064474</a:t>
            </a:r>
          </a:p>
          <a:p>
            <a:pPr algn="l">
              <a:spcAft>
                <a:spcPts val="600"/>
              </a:spcAft>
            </a:pPr>
            <a:r>
              <a:rPr sz="1400" b="0">
                <a:solidFill>
                  <a:srgbClr val="5B6372"/>
                </a:solidFill>
                <a:latin typeface="Arial"/>
              </a:rPr>
              <a:t>Conducted by Tertiary Infotech Academy Pte Ltd  ·  UEN 201200696W</a:t>
            </a:r>
          </a:p>
        </p:txBody>
      </p:sp>
      <p:sp>
        <p:nvSpPr>
          <p:cNvPr id="17" name="TextBox 16"/>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v15.0  ·  10 August 2026</a:t>
            </a:r>
          </a:p>
        </p:txBody>
      </p:sp>
      <p:sp>
        <p:nvSpPr>
          <p:cNvPr id="18" name="TextBox 17"/>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MORNING (AM)
Scan on arrival</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AFTERNOON (PM)
Scan after lunch</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Scan before you begin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Digital Attendance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Mandatory for WSQ funding</a:t>
            </a:r>
          </a:p>
          <a:p>
            <a:pPr algn="l">
              <a:spcAft>
                <a:spcPts val="300"/>
              </a:spcAft>
            </a:pPr>
            <a:r>
              <a:rPr sz="1200" b="0">
                <a:solidFill>
                  <a:srgbClr val="5B6372"/>
                </a:solidFill>
                <a:latin typeface="Arial"/>
              </a:rPr>
              <a:t>AM, PM and Assessment attendance must all be taken on the training day.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QR code</a:t>
            </a:r>
          </a:p>
          <a:p>
            <a:pPr algn="l">
              <a:spcAft>
                <a:spcPts val="300"/>
              </a:spcAft>
            </a:pPr>
            <a:r>
              <a:rPr sz="1200" b="0">
                <a:solidFill>
                  <a:srgbClr val="5B6372"/>
                </a:solidFill>
                <a:latin typeface="Arial"/>
              </a:rPr>
              <a:t>The trainer or administrator displays the QR code generated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How to submit</a:t>
            </a:r>
          </a:p>
          <a:p>
            <a:pPr algn="l">
              <a:spcAft>
                <a:spcPts val="300"/>
              </a:spcAft>
            </a:pPr>
            <a:r>
              <a:rPr sz="12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75% minimum</a:t>
            </a:r>
          </a:p>
          <a:p>
            <a:pPr algn="l">
              <a:spcAft>
                <a:spcPts val="300"/>
              </a:spcAft>
            </a:pPr>
            <a:r>
              <a:rPr sz="12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eCommerce, WordPress and WooCommerce content management systems.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eCommerce, web development, digital marketing and data analytics.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Who you are</a:t>
            </a:r>
          </a:p>
          <a:p>
            <a:pPr algn="l">
              <a:spcAft>
                <a:spcPts val="300"/>
              </a:spcAft>
            </a:pPr>
            <a:r>
              <a:rPr sz="1300" b="0">
                <a:solidFill>
                  <a:srgbClr val="5B6372"/>
                </a:solidFill>
                <a:latin typeface="Arial"/>
              </a:rPr>
              <a:t>Your name, your organisation and the role you play there.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What you've used</a:t>
            </a:r>
          </a:p>
          <a:p>
            <a:pPr algn="l">
              <a:spcAft>
                <a:spcPts val="300"/>
              </a:spcAft>
            </a:pPr>
            <a:r>
              <a:rPr sz="1300" b="0">
                <a:solidFill>
                  <a:srgbClr val="5B6372"/>
                </a:solidFill>
                <a:latin typeface="Arial"/>
              </a:rPr>
              <a:t>Your experience with WordPress, eCommerce or running an online store.</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What you'll sell</a:t>
            </a:r>
          </a:p>
          <a:p>
            <a:pPr algn="l">
              <a:spcAft>
                <a:spcPts val="300"/>
              </a:spcAft>
            </a:pPr>
            <a:r>
              <a:rPr sz="1300" b="0">
                <a:solidFill>
                  <a:srgbClr val="5B6372"/>
                </a:solidFill>
                <a:latin typeface="Arial"/>
              </a:rPr>
              <a:t>One product or business you would like to sell online by the end of today.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WE START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Prerequisite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Basic WordPress</a:t>
            </a:r>
          </a:p>
          <a:p>
            <a:pPr algn="l">
              <a:spcAft>
                <a:spcPts val="300"/>
              </a:spcAft>
            </a:pPr>
            <a:r>
              <a:rPr sz="1200" b="0">
                <a:solidFill>
                  <a:srgbClr val="5B6372"/>
                </a:solidFill>
                <a:latin typeface="Arial"/>
              </a:rPr>
              <a:t>Basic WordPress operation is assumed in this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Comfortable with a browser</a:t>
            </a:r>
          </a:p>
          <a:p>
            <a:pPr algn="l">
              <a:spcAft>
                <a:spcPts val="300"/>
              </a:spcAft>
            </a:pPr>
            <a:r>
              <a:rPr sz="1200" b="0">
                <a:solidFill>
                  <a:srgbClr val="5B6372"/>
                </a:solidFill>
                <a:latin typeface="Arial"/>
              </a:rPr>
              <a:t>You can navigate a WordPress admin dashboard and upload an image.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 store to build</a:t>
            </a:r>
          </a:p>
          <a:p>
            <a:pPr algn="l">
              <a:spcAft>
                <a:spcPts val="300"/>
              </a:spcAft>
            </a:pPr>
            <a:r>
              <a:rPr sz="1200" b="0">
                <a:solidFill>
                  <a:srgbClr val="5B6372"/>
                </a:solidFill>
                <a:latin typeface="Arial"/>
              </a:rPr>
              <a:t>Bring a product idea — you will build a real catalogue around it today.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 coding required</a:t>
            </a:r>
          </a:p>
          <a:p>
            <a:pPr algn="l">
              <a:spcAft>
                <a:spcPts val="300"/>
              </a:spcAft>
            </a:pPr>
            <a:r>
              <a:rPr sz="1200" b="0">
                <a:solidFill>
                  <a:srgbClr val="5B6372"/>
                </a:solidFill>
                <a:latin typeface="Arial"/>
              </a:rPr>
              <a:t>Everything in this course is done through the WooCommerce interface.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943600"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943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38528"/>
            <a:ext cx="155448" cy="155448"/>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38528"/>
            <a:ext cx="155448" cy="155448"/>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38528"/>
            <a:ext cx="155448" cy="155448"/>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0" y="1892808"/>
            <a:ext cx="4617720" cy="26517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47672" y="1892808"/>
            <a:ext cx="4480560" cy="265176"/>
          </a:xfrm>
          <a:prstGeom prst="rect">
            <a:avLst/>
          </a:prstGeom>
          <a:noFill/>
        </p:spPr>
        <p:txBody>
          <a:bodyPr wrap="square" anchor="ctr">
            <a:spAutoFit/>
          </a:bodyPr>
          <a:lstStyle/>
          <a:p>
            <a:pPr algn="l">
              <a:spcAft>
                <a:spcPts val="400"/>
              </a:spcAft>
            </a:pPr>
            <a:r>
              <a:rPr sz="1000" b="0">
                <a:solidFill>
                  <a:srgbClr val="5B6372"/>
                </a:solidFill>
                <a:latin typeface="Arial"/>
              </a:rPr>
              <a:t>🔒  lms-tms.tertiaryinfotech.com</a:t>
            </a:r>
          </a:p>
        </p:txBody>
      </p:sp>
      <p:sp>
        <p:nvSpPr>
          <p:cNvPr id="14" name="Rectangle 13"/>
          <p:cNvSpPr/>
          <p:nvPr/>
        </p:nvSpPr>
        <p:spPr>
          <a:xfrm>
            <a:off x="777240" y="2258568"/>
            <a:ext cx="594360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258568"/>
            <a:ext cx="5486400" cy="658368"/>
          </a:xfrm>
          <a:prstGeom prst="rect">
            <a:avLst/>
          </a:prstGeom>
          <a:noFill/>
        </p:spPr>
        <p:txBody>
          <a:bodyPr wrap="square" anchor="ctr">
            <a:spAutoFit/>
          </a:bodyPr>
          <a:lstStyle/>
          <a:p>
            <a:pPr algn="l">
              <a:spcAft>
                <a:spcPts val="400"/>
              </a:spcAft>
            </a:pPr>
            <a:r>
              <a:rPr sz="1400" b="1">
                <a:solidFill>
                  <a:srgbClr val="FFFFFF"/>
                </a:solidFill>
                <a:latin typeface="Arial"/>
              </a:rPr>
              <a:t>Tertiary Infotech  ·  LMS / TMS</a:t>
            </a:r>
          </a:p>
        </p:txBody>
      </p:sp>
      <p:sp>
        <p:nvSpPr>
          <p:cNvPr id="16" name="TextBox 15"/>
          <p:cNvSpPr txBox="1"/>
          <p:nvPr/>
        </p:nvSpPr>
        <p:spPr>
          <a:xfrm>
            <a:off x="1033272" y="3081528"/>
            <a:ext cx="5431536" cy="320040"/>
          </a:xfrm>
          <a:prstGeom prst="rect">
            <a:avLst/>
          </a:prstGeom>
          <a:noFill/>
        </p:spPr>
        <p:txBody>
          <a:bodyPr wrap="square" anchor="t">
            <a:spAutoFit/>
          </a:bodyPr>
          <a:lstStyle/>
          <a:p>
            <a:pPr algn="l">
              <a:spcAft>
                <a:spcPts val="400"/>
              </a:spcAft>
            </a:pPr>
            <a:r>
              <a:rPr sz="1000" b="1">
                <a:solidFill>
                  <a:srgbClr val="5B6372"/>
                </a:solidFill>
                <a:latin typeface="Arial"/>
              </a:rPr>
              <a:t>MY COURSES</a:t>
            </a:r>
          </a:p>
        </p:txBody>
      </p:sp>
      <p:sp>
        <p:nvSpPr>
          <p:cNvPr id="17" name="Rectangle 16"/>
          <p:cNvSpPr/>
          <p:nvPr/>
        </p:nvSpPr>
        <p:spPr>
          <a:xfrm>
            <a:off x="1033272" y="3410712"/>
            <a:ext cx="54315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33272" y="3410712"/>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52728" y="3410712"/>
            <a:ext cx="4937760" cy="713232"/>
          </a:xfrm>
          <a:prstGeom prst="rect">
            <a:avLst/>
          </a:prstGeom>
          <a:noFill/>
        </p:spPr>
        <p:txBody>
          <a:bodyPr wrap="square" anchor="ctr">
            <a:spAutoFit/>
          </a:bodyPr>
          <a:lstStyle/>
          <a:p>
            <a:pPr algn="l">
              <a:spcAft>
                <a:spcPts val="200"/>
              </a:spcAft>
            </a:pPr>
            <a:r>
              <a:rPr sz="1100" b="1">
                <a:solidFill>
                  <a:srgbClr val="161B26"/>
                </a:solidFill>
                <a:latin typeface="Arial"/>
              </a:rPr>
              <a:t>Building a Successful eCommerce Store with WooCommerce</a:t>
            </a:r>
          </a:p>
          <a:p>
            <a:pPr algn="l">
              <a:spcAft>
                <a:spcPts val="200"/>
              </a:spcAft>
            </a:pPr>
            <a:r>
              <a:rPr sz="900" b="0">
                <a:solidFill>
                  <a:srgbClr val="5B6372"/>
                </a:solidFill>
                <a:latin typeface="Arial"/>
              </a:rPr>
              <a:t>TGS-2026064474</a:t>
            </a:r>
          </a:p>
        </p:txBody>
      </p:sp>
      <p:sp>
        <p:nvSpPr>
          <p:cNvPr id="20" name="Rectangle 19"/>
          <p:cNvSpPr/>
          <p:nvPr/>
        </p:nvSpPr>
        <p:spPr>
          <a:xfrm>
            <a:off x="1033272" y="4297680"/>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06424" y="4361688"/>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6424" y="4361688"/>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23" name="TextBox 22"/>
          <p:cNvSpPr txBox="1"/>
          <p:nvPr/>
        </p:nvSpPr>
        <p:spPr>
          <a:xfrm>
            <a:off x="1600200" y="4297680"/>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Learner Slides</a:t>
            </a:r>
          </a:p>
        </p:txBody>
      </p:sp>
      <p:sp>
        <p:nvSpPr>
          <p:cNvPr id="24" name="Rectangle 23"/>
          <p:cNvSpPr/>
          <p:nvPr/>
        </p:nvSpPr>
        <p:spPr>
          <a:xfrm>
            <a:off x="5486400" y="4370832"/>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0" y="4370832"/>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26" name="Rectangle 25"/>
          <p:cNvSpPr/>
          <p:nvPr/>
        </p:nvSpPr>
        <p:spPr>
          <a:xfrm>
            <a:off x="1033272" y="4809744"/>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06424" y="4873752"/>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6424" y="4873752"/>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29" name="TextBox 28"/>
          <p:cNvSpPr txBox="1"/>
          <p:nvPr/>
        </p:nvSpPr>
        <p:spPr>
          <a:xfrm>
            <a:off x="1600200" y="4809744"/>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Learner Guide</a:t>
            </a:r>
          </a:p>
        </p:txBody>
      </p:sp>
      <p:sp>
        <p:nvSpPr>
          <p:cNvPr id="30" name="Rectangle 29"/>
          <p:cNvSpPr/>
          <p:nvPr/>
        </p:nvSpPr>
        <p:spPr>
          <a:xfrm>
            <a:off x="5486400" y="4882896"/>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0" y="4882896"/>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32" name="Rectangle 31"/>
          <p:cNvSpPr/>
          <p:nvPr/>
        </p:nvSpPr>
        <p:spPr>
          <a:xfrm>
            <a:off x="1033272" y="5321808"/>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06424" y="5385816"/>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06424" y="5385816"/>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35" name="TextBox 34"/>
          <p:cNvSpPr txBox="1"/>
          <p:nvPr/>
        </p:nvSpPr>
        <p:spPr>
          <a:xfrm>
            <a:off x="1600200" y="5321808"/>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Lesson Plan</a:t>
            </a:r>
          </a:p>
        </p:txBody>
      </p:sp>
      <p:sp>
        <p:nvSpPr>
          <p:cNvPr id="36" name="Rectangle 35"/>
          <p:cNvSpPr/>
          <p:nvPr/>
        </p:nvSpPr>
        <p:spPr>
          <a:xfrm>
            <a:off x="5486400" y="5394960"/>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0" y="5394960"/>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38" name="Rectangle 37"/>
          <p:cNvSpPr/>
          <p:nvPr/>
        </p:nvSpPr>
        <p:spPr>
          <a:xfrm>
            <a:off x="7059168" y="1783080"/>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059168" y="1783080"/>
            <a:ext cx="82296" cy="7150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278624" y="1930298"/>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78624" y="1930298"/>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42" name="TextBox 41"/>
          <p:cNvSpPr txBox="1"/>
          <p:nvPr/>
        </p:nvSpPr>
        <p:spPr>
          <a:xfrm>
            <a:off x="7845552" y="1783080"/>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Go to lms-tms.tertiaryinfotech.com</a:t>
            </a:r>
          </a:p>
          <a:p>
            <a:pPr algn="l">
              <a:spcAft>
                <a:spcPts val="200"/>
              </a:spcAft>
            </a:pPr>
            <a:r>
              <a:rPr sz="1000" b="0">
                <a:solidFill>
                  <a:srgbClr val="5B6372"/>
                </a:solidFill>
                <a:latin typeface="Arial"/>
              </a:rPr>
              <a:t>Open the portal in any browser.</a:t>
            </a:r>
          </a:p>
        </p:txBody>
      </p:sp>
      <p:sp>
        <p:nvSpPr>
          <p:cNvPr id="43" name="Rectangle 42"/>
          <p:cNvSpPr/>
          <p:nvPr/>
        </p:nvSpPr>
        <p:spPr>
          <a:xfrm>
            <a:off x="7059168" y="2644444"/>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059168" y="2644444"/>
            <a:ext cx="82296" cy="7150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278624" y="279166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78624" y="279166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47" name="TextBox 46"/>
          <p:cNvSpPr txBox="1"/>
          <p:nvPr/>
        </p:nvSpPr>
        <p:spPr>
          <a:xfrm>
            <a:off x="7845552" y="2644444"/>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Log in with your registered email</a:t>
            </a:r>
          </a:p>
          <a:p>
            <a:pPr algn="l">
              <a:spcAft>
                <a:spcPts val="200"/>
              </a:spcAft>
            </a:pPr>
            <a:r>
              <a:rPr sz="1000" b="0">
                <a:solidFill>
                  <a:srgbClr val="5B6372"/>
                </a:solidFill>
                <a:latin typeface="Arial"/>
              </a:rPr>
              <a:t>The same address used to enrol.</a:t>
            </a:r>
          </a:p>
        </p:txBody>
      </p:sp>
      <p:sp>
        <p:nvSpPr>
          <p:cNvPr id="48" name="Rectangle 47"/>
          <p:cNvSpPr/>
          <p:nvPr/>
        </p:nvSpPr>
        <p:spPr>
          <a:xfrm>
            <a:off x="7059168" y="3505808"/>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059168" y="3505808"/>
            <a:ext cx="82296" cy="7150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278624" y="3653026"/>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78624" y="3653026"/>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52" name="TextBox 51"/>
          <p:cNvSpPr txBox="1"/>
          <p:nvPr/>
        </p:nvSpPr>
        <p:spPr>
          <a:xfrm>
            <a:off x="7845552" y="3505808"/>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Open this course</a:t>
            </a:r>
          </a:p>
          <a:p>
            <a:pPr algn="l">
              <a:spcAft>
                <a:spcPts val="200"/>
              </a:spcAft>
            </a:pPr>
            <a:r>
              <a:rPr sz="1000" b="0">
                <a:solidFill>
                  <a:srgbClr val="5B6372"/>
                </a:solidFill>
                <a:latin typeface="Arial"/>
              </a:rPr>
              <a:t>Building a Successful eCommerce Store with WooCommerce.</a:t>
            </a:r>
          </a:p>
        </p:txBody>
      </p:sp>
      <p:sp>
        <p:nvSpPr>
          <p:cNvPr id="53" name="Rectangle 52"/>
          <p:cNvSpPr/>
          <p:nvPr/>
        </p:nvSpPr>
        <p:spPr>
          <a:xfrm>
            <a:off x="7059168" y="4367172"/>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059168" y="4367172"/>
            <a:ext cx="82296" cy="7150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278624" y="451439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78624" y="451439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57" name="TextBox 56"/>
          <p:cNvSpPr txBox="1"/>
          <p:nvPr/>
        </p:nvSpPr>
        <p:spPr>
          <a:xfrm>
            <a:off x="7845552" y="4367172"/>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Download the material</a:t>
            </a:r>
          </a:p>
          <a:p>
            <a:pPr algn="l">
              <a:spcAft>
                <a:spcPts val="200"/>
              </a:spcAft>
            </a:pPr>
            <a:r>
              <a:rPr sz="1000" b="0">
                <a:solidFill>
                  <a:srgbClr val="5B6372"/>
                </a:solidFill>
                <a:latin typeface="Arial"/>
              </a:rPr>
              <a:t>Slides, Learner Guide and Lesson Plan.</a:t>
            </a:r>
          </a:p>
        </p:txBody>
      </p:sp>
      <p:sp>
        <p:nvSpPr>
          <p:cNvPr id="58" name="Rectangle 57"/>
          <p:cNvSpPr/>
          <p:nvPr/>
        </p:nvSpPr>
        <p:spPr>
          <a:xfrm>
            <a:off x="7059168" y="5228536"/>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059168" y="5228536"/>
            <a:ext cx="82296" cy="7150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278624" y="537575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78624" y="5375754"/>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62" name="TextBox 61"/>
          <p:cNvSpPr txBox="1"/>
          <p:nvPr/>
        </p:nvSpPr>
        <p:spPr>
          <a:xfrm>
            <a:off x="7845552" y="5228536"/>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Keep them open in class</a:t>
            </a:r>
          </a:p>
          <a:p>
            <a:pPr algn="l">
              <a:spcAft>
                <a:spcPts val="200"/>
              </a:spcAft>
            </a:pPr>
            <a:r>
              <a:rPr sz="1000" b="0">
                <a:solidFill>
                  <a:srgbClr val="5B6372"/>
                </a:solidFill>
                <a:latin typeface="Arial"/>
              </a:rPr>
              <a:t>The assessment is open book.</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FRAMEWORK</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Skills Framework — TSC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Content Management System Utilisation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RET-CIE-4002-1.1</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Sector</a:t>
            </a:r>
          </a:p>
          <a:p>
            <a:pPr algn="l">
              <a:spcAft>
                <a:spcPts val="300"/>
              </a:spcAft>
            </a:pPr>
            <a:r>
              <a:rPr sz="1200" b="0">
                <a:solidFill>
                  <a:srgbClr val="5B6372"/>
                </a:solidFill>
                <a:latin typeface="Arial"/>
              </a:rPr>
              <a:t>Retail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Proficiency</a:t>
            </a:r>
          </a:p>
          <a:p>
            <a:pPr algn="l">
              <a:spcAft>
                <a:spcPts val="300"/>
              </a:spcAft>
            </a:pPr>
            <a:r>
              <a:rPr sz="1200" b="0">
                <a:solidFill>
                  <a:srgbClr val="5B6372"/>
                </a:solidFill>
                <a:latin typeface="Arial"/>
              </a:rPr>
              <a:t>Level 4 — Manage the utilisation of content management systems to create, curate and publish web content, measure performance and recommend improvements.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COURSE DEVELOPS  ·  A1–A3</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TSC Abilities — Assessed by the Practical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A1</a:t>
            </a:r>
          </a:p>
          <a:p>
            <a:pPr algn="l">
              <a:spcAft>
                <a:spcPts val="300"/>
              </a:spcAft>
            </a:pPr>
            <a:r>
              <a:rPr sz="1100" b="0">
                <a:solidFill>
                  <a:srgbClr val="5B6372"/>
                </a:solidFill>
                <a:latin typeface="Arial"/>
              </a:rPr>
              <a:t>Monitor adherence to content management policies, guidelines and permissions on content management</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A2</a:t>
            </a:r>
          </a:p>
          <a:p>
            <a:pPr algn="l">
              <a:spcAft>
                <a:spcPts val="300"/>
              </a:spcAft>
            </a:pPr>
            <a:r>
              <a:rPr sz="1100" b="0">
                <a:solidFill>
                  <a:srgbClr val="5B6372"/>
                </a:solidFill>
                <a:latin typeface="Arial"/>
              </a:rPr>
              <a:t>Develop and review metrics to measure performance of content management systems</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A3</a:t>
            </a:r>
          </a:p>
          <a:p>
            <a:pPr algn="l">
              <a:spcAft>
                <a:spcPts val="300"/>
              </a:spcAft>
            </a:pPr>
            <a:r>
              <a:rPr sz="1100" b="0">
                <a:solidFill>
                  <a:srgbClr val="5B6372"/>
                </a:solidFill>
                <a:latin typeface="Arial"/>
              </a:rPr>
              <a:t>Recommend areas for improvements for a better customer experience in terms of organisation's web properties and assets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COURSE DEVELOPS  ·  A4–A6</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TSC Abilities — Assessed by the Practical Performance (cont.)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A4</a:t>
            </a:r>
          </a:p>
          <a:p>
            <a:pPr algn="l">
              <a:spcAft>
                <a:spcPts val="300"/>
              </a:spcAft>
            </a:pPr>
            <a:r>
              <a:rPr sz="1100" b="0">
                <a:solidFill>
                  <a:srgbClr val="5B6372"/>
                </a:solidFill>
                <a:latin typeface="Arial"/>
              </a:rPr>
              <a:t>Ensure smooth maintenance and consistent updates of content management systems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A5</a:t>
            </a:r>
          </a:p>
          <a:p>
            <a:pPr algn="l">
              <a:spcAft>
                <a:spcPts val="300"/>
              </a:spcAft>
            </a:pPr>
            <a:r>
              <a:rPr sz="1100" b="0">
                <a:solidFill>
                  <a:srgbClr val="5B6372"/>
                </a:solidFill>
                <a:latin typeface="Arial"/>
              </a:rPr>
              <a:t>Highlight and resolve issues related to content management systems</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A6</a:t>
            </a:r>
          </a:p>
          <a:p>
            <a:pPr algn="l">
              <a:spcAft>
                <a:spcPts val="300"/>
              </a:spcAft>
            </a:pPr>
            <a:r>
              <a:rPr sz="1100" b="0">
                <a:solidFill>
                  <a:srgbClr val="5B6372"/>
                </a:solidFill>
                <a:latin typeface="Arial"/>
              </a:rPr>
              <a:t>Edit and curate web content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THIS COURSE DEVELOPS  ·  K1–K4</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TSC Knowledge — Assessed by Oral Questioning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K1</a:t>
            </a:r>
          </a:p>
          <a:p>
            <a:pPr algn="l">
              <a:spcAft>
                <a:spcPts val="300"/>
              </a:spcAft>
            </a:pPr>
            <a:r>
              <a:rPr sz="1100" b="0">
                <a:solidFill>
                  <a:srgbClr val="5B6372"/>
                </a:solidFill>
                <a:latin typeface="Arial"/>
              </a:rPr>
              <a:t>Content management policies, guidelines and permissions on content management</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K2</a:t>
            </a:r>
          </a:p>
          <a:p>
            <a:pPr algn="l">
              <a:spcAft>
                <a:spcPts val="300"/>
              </a:spcAft>
            </a:pPr>
            <a:r>
              <a:rPr sz="1100" b="0">
                <a:solidFill>
                  <a:srgbClr val="5B6372"/>
                </a:solidFill>
                <a:latin typeface="Arial"/>
              </a:rPr>
              <a:t>Web content for deployment</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K3</a:t>
            </a:r>
          </a:p>
          <a:p>
            <a:pPr algn="l">
              <a:spcAft>
                <a:spcPts val="300"/>
              </a:spcAft>
            </a:pPr>
            <a:r>
              <a:rPr sz="1100" b="0">
                <a:solidFill>
                  <a:srgbClr val="5B6372"/>
                </a:solidFill>
                <a:latin typeface="Arial"/>
              </a:rPr>
              <a:t>Organisation's web properties and assets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K4</a:t>
            </a:r>
          </a:p>
          <a:p>
            <a:pPr algn="l">
              <a:spcAft>
                <a:spcPts val="300"/>
              </a:spcAft>
            </a:pPr>
            <a:r>
              <a:rPr sz="1100" b="0">
                <a:solidFill>
                  <a:srgbClr val="5B6372"/>
                </a:solidFill>
                <a:latin typeface="Arial"/>
              </a:rPr>
              <a:t>Creation and curation of web content guidelines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THIS COURSE DEVELOPS  ·  K5–K7</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TSC Knowledge — Assessed by Oral Questioning (cont.)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K5</a:t>
            </a:r>
          </a:p>
          <a:p>
            <a:pPr algn="l">
              <a:spcAft>
                <a:spcPts val="300"/>
              </a:spcAft>
            </a:pPr>
            <a:r>
              <a:rPr sz="1100" b="0">
                <a:solidFill>
                  <a:srgbClr val="5B6372"/>
                </a:solidFill>
                <a:latin typeface="Arial"/>
              </a:rPr>
              <a:t>Web content and platform management systems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K6</a:t>
            </a:r>
          </a:p>
          <a:p>
            <a:pPr algn="l">
              <a:spcAft>
                <a:spcPts val="300"/>
              </a:spcAft>
            </a:pPr>
            <a:r>
              <a:rPr sz="1100" b="0">
                <a:solidFill>
                  <a:srgbClr val="5B6372"/>
                </a:solidFill>
                <a:latin typeface="Arial"/>
              </a:rPr>
              <a:t>Types of performance metrics of content management systems</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K7</a:t>
            </a:r>
          </a:p>
          <a:p>
            <a:pPr algn="l">
              <a:spcAft>
                <a:spcPts val="300"/>
              </a:spcAft>
            </a:pPr>
            <a:r>
              <a:rPr sz="1100" b="0">
                <a:solidFill>
                  <a:srgbClr val="5B6372"/>
                </a:solidFill>
                <a:latin typeface="Arial"/>
              </a:rPr>
              <a:t>Criteria for evaluating metrics to measure performance of content management systems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DAY 1 · 9:30am – 6:30pm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Lesson Plan — Day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  ·  9:30am – 12:30pm</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  ·  1:30pm – 6:30pm</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400" b="0">
                <a:solidFill>
                  <a:srgbClr val="5B6372"/>
                </a:solidFill>
                <a:latin typeface="Arial"/>
              </a:rPr>
              <a:t>–  Digital Attendance (AM) · Introductions</a:t>
            </a:r>
          </a:p>
          <a:p>
            <a:pPr>
              <a:spcAft>
                <a:spcPts val="1000"/>
              </a:spcAft>
            </a:pPr>
            <a:r>
              <a:rPr sz="1400" b="0">
                <a:solidFill>
                  <a:srgbClr val="5B6372"/>
                </a:solidFill>
                <a:latin typeface="Arial"/>
              </a:rPr>
              <a:t>–  Learning outcomes, outline &amp; TSC briefing</a:t>
            </a:r>
          </a:p>
          <a:p>
            <a:pPr>
              <a:spcAft>
                <a:spcPts val="1000"/>
              </a:spcAft>
            </a:pPr>
            <a:r>
              <a:rPr sz="1400" b="0">
                <a:solidFill>
                  <a:srgbClr val="5B6372"/>
                </a:solidFill>
                <a:latin typeface="Arial"/>
              </a:rPr>
              <a:t>–  Topic 1: Overview of WooCommerce CMS  (LO1)</a:t>
            </a:r>
          </a:p>
          <a:p>
            <a:pPr>
              <a:spcAft>
                <a:spcPts val="1000"/>
              </a:spcAft>
            </a:pPr>
            <a:r>
              <a:rPr sz="1400" b="0">
                <a:solidFill>
                  <a:srgbClr val="5B6372"/>
                </a:solidFill>
                <a:latin typeface="Arial"/>
              </a:rPr>
              <a:t>–  Lab 1: Set Up Your WooCommerce Store</a:t>
            </a:r>
          </a:p>
          <a:p>
            <a:pPr>
              <a:spcAft>
                <a:spcPts val="1000"/>
              </a:spcAft>
            </a:pPr>
            <a:r>
              <a:rPr sz="1400" b="0">
                <a:solidFill>
                  <a:srgbClr val="5B6372"/>
                </a:solidFill>
                <a:latin typeface="Arial"/>
              </a:rPr>
              <a:t>–  Topic 2: Manage Products  (LO2, LO3)</a:t>
            </a:r>
          </a:p>
          <a:p>
            <a:pPr>
              <a:spcAft>
                <a:spcPts val="1000"/>
              </a:spcAft>
            </a:pPr>
            <a:r>
              <a:rPr sz="1400" b="0">
                <a:solidFill>
                  <a:srgbClr val="5B6372"/>
                </a:solidFill>
                <a:latin typeface="Arial"/>
              </a:rPr>
              <a:t>–  Lab 2: Create and Curate a Simple Product</a:t>
            </a:r>
          </a:p>
          <a:p>
            <a:pPr>
              <a:spcAft>
                <a:spcPts val="1000"/>
              </a:spcAft>
            </a:pPr>
            <a:r>
              <a:rPr sz="1400" b="0">
                <a:solidFill>
                  <a:srgbClr val="5B6372"/>
                </a:solidFill>
                <a:latin typeface="Arial"/>
              </a:rPr>
              <a:t>–  Lunch Break — 1 hour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400" b="0">
                <a:solidFill>
                  <a:srgbClr val="5B6372"/>
                </a:solidFill>
                <a:latin typeface="Arial"/>
              </a:rPr>
              <a:t>–  Digital Attendance (PM)</a:t>
            </a:r>
          </a:p>
          <a:p>
            <a:pPr>
              <a:spcAft>
                <a:spcPts val="1000"/>
              </a:spcAft>
            </a:pPr>
            <a:r>
              <a:rPr sz="1400" b="0">
                <a:solidFill>
                  <a:srgbClr val="5B6372"/>
                </a:solidFill>
                <a:latin typeface="Arial"/>
              </a:rPr>
              <a:t>–  Lab 3: Variable Product · Lab 4: Curate Catalogue</a:t>
            </a:r>
          </a:p>
          <a:p>
            <a:pPr>
              <a:spcAft>
                <a:spcPts val="1000"/>
              </a:spcAft>
            </a:pPr>
            <a:r>
              <a:rPr sz="1400" b="0">
                <a:solidFill>
                  <a:srgbClr val="5B6372"/>
                </a:solidFill>
                <a:latin typeface="Arial"/>
              </a:rPr>
              <a:t>–  Topic 3: Payments &amp; Shipping  (LO4)  ·  Lab 5</a:t>
            </a:r>
          </a:p>
          <a:p>
            <a:pPr>
              <a:spcAft>
                <a:spcPts val="1000"/>
              </a:spcAft>
            </a:pPr>
            <a:r>
              <a:rPr sz="1400" b="0">
                <a:solidFill>
                  <a:srgbClr val="5B6372"/>
                </a:solidFill>
                <a:latin typeface="Arial"/>
              </a:rPr>
              <a:t>–  Topic 4: Manage Sales  (LO5)  ·  Lab 6</a:t>
            </a:r>
          </a:p>
          <a:p>
            <a:pPr>
              <a:spcAft>
                <a:spcPts val="1000"/>
              </a:spcAft>
            </a:pPr>
            <a:r>
              <a:rPr sz="1400" b="0">
                <a:solidFill>
                  <a:srgbClr val="5B6372"/>
                </a:solidFill>
                <a:latin typeface="Arial"/>
              </a:rPr>
              <a:t>–  Topic 5: Manage Performance  (LO6)  ·  Lab 7</a:t>
            </a:r>
          </a:p>
          <a:p>
            <a:pPr>
              <a:spcAft>
                <a:spcPts val="1000"/>
              </a:spcAft>
            </a:pPr>
            <a:r>
              <a:rPr sz="1400" b="0">
                <a:solidFill>
                  <a:srgbClr val="5B6372"/>
                </a:solidFill>
                <a:latin typeface="Arial"/>
              </a:rPr>
              <a:t>–  Course Feedback &amp; TRAQOM Survey</a:t>
            </a:r>
          </a:p>
          <a:p>
            <a:pPr>
              <a:spcAft>
                <a:spcPts val="1000"/>
              </a:spcAft>
            </a:pPr>
            <a:r>
              <a:rPr sz="1400" b="0">
                <a:solidFill>
                  <a:srgbClr val="5B6372"/>
                </a:solidFill>
                <a:latin typeface="Arial"/>
              </a:rPr>
              <a:t>–  Final Assessment — PP (75 min) + OQ (15 min)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LO1 · Setup and monitor</a:t>
            </a:r>
          </a:p>
          <a:p>
            <a:pPr algn="l">
              <a:spcAft>
                <a:spcPts val="300"/>
              </a:spcAft>
            </a:pPr>
            <a:r>
              <a:rPr sz="1100" b="0">
                <a:solidFill>
                  <a:srgbClr val="5B6372"/>
                </a:solidFill>
                <a:latin typeface="Arial"/>
              </a:rPr>
              <a:t>Setup and monitor WooCommerce CMS to ensure adherence to guidelines and policies. (A1, K1)</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LO2 · Edit and curate</a:t>
            </a:r>
          </a:p>
          <a:p>
            <a:pPr algn="l">
              <a:spcAft>
                <a:spcPts val="300"/>
              </a:spcAft>
            </a:pPr>
            <a:r>
              <a:rPr sz="1100" b="0">
                <a:solidFill>
                  <a:srgbClr val="5B6372"/>
                </a:solidFill>
                <a:latin typeface="Arial"/>
              </a:rPr>
              <a:t>Edit and curate product website on WooCommerce CMS. (A6, K2, K4)</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LO3 · Maintain content</a:t>
            </a:r>
          </a:p>
          <a:p>
            <a:pPr algn="l">
              <a:spcAft>
                <a:spcPts val="300"/>
              </a:spcAft>
            </a:pPr>
            <a:r>
              <a:rPr sz="1100" b="0">
                <a:solidFill>
                  <a:srgbClr val="5B6372"/>
                </a:solidFill>
                <a:latin typeface="Arial"/>
              </a:rPr>
              <a:t>Maintain product web content on WooCommerce CMS. (A4, K2, K4)</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LO4 · Payments &amp; shipping</a:t>
            </a:r>
          </a:p>
          <a:p>
            <a:pPr algn="l">
              <a:spcAft>
                <a:spcPts val="300"/>
              </a:spcAft>
            </a:pPr>
            <a:r>
              <a:rPr sz="1100" b="0">
                <a:solidFill>
                  <a:srgbClr val="5B6372"/>
                </a:solidFill>
                <a:latin typeface="Arial"/>
              </a:rPr>
              <a:t>Recommend payment and shipping methods to improve customer experience. (A3, K3)</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LO5 · Manage issues</a:t>
            </a:r>
          </a:p>
          <a:p>
            <a:pPr algn="l">
              <a:spcAft>
                <a:spcPts val="300"/>
              </a:spcAft>
            </a:pPr>
            <a:r>
              <a:rPr sz="1100" b="0">
                <a:solidFill>
                  <a:srgbClr val="5B6372"/>
                </a:solidFill>
                <a:latin typeface="Arial"/>
              </a:rPr>
              <a:t>Manage issues such as sales, out-of-stock and promotion. (A5, K5)</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LO6 · Manage performance</a:t>
            </a:r>
          </a:p>
          <a:p>
            <a:pPr algn="l">
              <a:spcAft>
                <a:spcPts val="300"/>
              </a:spcAft>
            </a:pPr>
            <a:r>
              <a:rPr sz="1100" b="0">
                <a:solidFill>
                  <a:srgbClr val="5B6372"/>
                </a:solidFill>
                <a:latin typeface="Arial"/>
              </a:rPr>
              <a:t>Manage WooCommerce CMS performance. (A2, K6, K7)</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TOPICS · ONE DAY · SEVEN HANDS-ON LABS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1 — Overview of WooCommerce CMS</a:t>
            </a:r>
          </a:p>
          <a:p>
            <a:pPr algn="l">
              <a:spcAft>
                <a:spcPts val="300"/>
              </a:spcAft>
            </a:pPr>
            <a:r>
              <a:rPr sz="1100" b="0">
                <a:solidFill>
                  <a:srgbClr val="5B6372"/>
                </a:solidFill>
                <a:latin typeface="Arial"/>
              </a:rPr>
              <a:t>Setup, themes, widgets, shortcodes, settings, currency and tax.</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2 — Manage Products</a:t>
            </a:r>
          </a:p>
          <a:p>
            <a:pPr algn="l">
              <a:spcAft>
                <a:spcPts val="300"/>
              </a:spcAft>
            </a:pPr>
            <a:r>
              <a:rPr sz="1100" b="0">
                <a:solidFill>
                  <a:srgbClr val="5B6372"/>
                </a:solidFill>
                <a:latin typeface="Arial"/>
              </a:rPr>
              <a:t>Product types, images, variations, categories, attributes, up-sells and CSV import.</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3 — Payments &amp; Shipping</a:t>
            </a:r>
          </a:p>
          <a:p>
            <a:pPr algn="l">
              <a:spcAft>
                <a:spcPts val="300"/>
              </a:spcAft>
            </a:pPr>
            <a:r>
              <a:rPr sz="1100" b="0">
                <a:solidFill>
                  <a:srgbClr val="5B6372"/>
                </a:solidFill>
                <a:latin typeface="Arial"/>
              </a:rPr>
              <a:t>Payment gateways, shipping zones, flat rate, free shipping and local pickup.</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4 — Manage Sales</a:t>
            </a:r>
          </a:p>
          <a:p>
            <a:pPr algn="l">
              <a:spcAft>
                <a:spcPts val="300"/>
              </a:spcAft>
            </a:pPr>
            <a:r>
              <a:rPr sz="1100" b="0">
                <a:solidFill>
                  <a:srgbClr val="5B6372"/>
                </a:solidFill>
                <a:latin typeface="Arial"/>
              </a:rPr>
              <a:t>Orders, statuses, refunds, restocking, coupons and promotions.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5 — Manage Performance</a:t>
            </a:r>
          </a:p>
          <a:p>
            <a:pPr algn="l">
              <a:spcAft>
                <a:spcPts val="300"/>
              </a:spcAft>
            </a:pPr>
            <a:r>
              <a:rPr sz="1100" b="0">
                <a:solidFill>
                  <a:srgbClr val="5B6372"/>
                </a:solidFill>
                <a:latin typeface="Arial"/>
              </a:rPr>
              <a:t>Sales, customer and stock reports, dashboard widgets and Google Analytics.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BUILD  ·  https://woocommerce.com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Hands-On Labs on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Morning · 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 up your WooCommerce store</a:t>
            </a:r>
          </a:p>
          <a:p>
            <a:pPr>
              <a:spcAft>
                <a:spcPts val="900"/>
              </a:spcAft>
            </a:pPr>
            <a:r>
              <a:rPr sz="1400" b="0">
                <a:solidFill>
                  <a:srgbClr val="161B26"/>
                </a:solidFill>
                <a:latin typeface="Arial"/>
              </a:rPr>
              <a:t>•  Configure currency and tax</a:t>
            </a:r>
          </a:p>
          <a:p>
            <a:pPr>
              <a:spcAft>
                <a:spcPts val="900"/>
              </a:spcAft>
            </a:pPr>
            <a:r>
              <a:rPr sz="1400" b="0">
                <a:solidFill>
                  <a:srgbClr val="161B26"/>
                </a:solidFill>
                <a:latin typeface="Arial"/>
              </a:rPr>
              <a:t>•  Create your first product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Afternoon · Labs 3–5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variable product</a:t>
            </a:r>
          </a:p>
          <a:p>
            <a:pPr>
              <a:spcAft>
                <a:spcPts val="900"/>
              </a:spcAft>
            </a:pPr>
            <a:r>
              <a:rPr sz="1400" b="0">
                <a:solidFill>
                  <a:srgbClr val="161B26"/>
                </a:solidFill>
                <a:latin typeface="Arial"/>
              </a:rPr>
              <a:t>•  Curate the catalogue &amp; CSV import</a:t>
            </a:r>
          </a:p>
          <a:p>
            <a:pPr>
              <a:spcAft>
                <a:spcPts val="900"/>
              </a:spcAft>
            </a:pPr>
            <a:r>
              <a:rPr sz="1400" b="0">
                <a:solidFill>
                  <a:srgbClr val="161B26"/>
                </a:solidFill>
                <a:latin typeface="Arial"/>
              </a:rPr>
              <a:t>•  Payments and shipping zones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Afternoon · Labs 6–7</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Orders, refunds and coupons</a:t>
            </a:r>
          </a:p>
          <a:p>
            <a:pPr>
              <a:spcAft>
                <a:spcPts val="900"/>
              </a:spcAft>
            </a:pPr>
            <a:r>
              <a:rPr sz="1400" b="0">
                <a:solidFill>
                  <a:srgbClr val="161B26"/>
                </a:solidFill>
                <a:latin typeface="Arial"/>
              </a:rPr>
              <a:t>•  Reports and dashboard widgets</a:t>
            </a:r>
          </a:p>
          <a:p>
            <a:pPr>
              <a:spcAft>
                <a:spcPts val="900"/>
              </a:spcAft>
            </a:pPr>
            <a:r>
              <a:rPr sz="1400" b="0">
                <a:solidFill>
                  <a:srgbClr val="161B26"/>
                </a:solidFill>
                <a:latin typeface="Arial"/>
              </a:rPr>
              <a:t>•  Google Analytics integration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BEGIN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liquid paper or correction tape.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 · 90 MINUTES TOTAL · END OF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Practical Performance — 75 min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and manage a WooCommerce store</a:t>
            </a:r>
          </a:p>
          <a:p>
            <a:pPr>
              <a:spcAft>
                <a:spcPts val="900"/>
              </a:spcAft>
            </a:pPr>
            <a:r>
              <a:rPr sz="1400" b="0">
                <a:solidFill>
                  <a:srgbClr val="161B26"/>
                </a:solidFill>
                <a:latin typeface="Arial"/>
              </a:rPr>
              <a:t>•  Assesses abilities A1–A6</a:t>
            </a:r>
          </a:p>
          <a:p>
            <a:pPr>
              <a:spcAft>
                <a:spcPts val="900"/>
              </a:spcAft>
            </a:pPr>
            <a:r>
              <a:rPr sz="1400" b="0">
                <a:solidFill>
                  <a:srgbClr val="161B26"/>
                </a:solidFill>
                <a:latin typeface="Arial"/>
              </a:rPr>
              <a:t>•  Open book, done individually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Oral Questioning — 15 min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Open-ended questions, 1:1</a:t>
            </a:r>
          </a:p>
          <a:p>
            <a:pPr>
              <a:spcAft>
                <a:spcPts val="900"/>
              </a:spcAft>
            </a:pPr>
            <a:r>
              <a:rPr sz="1400" b="0">
                <a:solidFill>
                  <a:srgbClr val="161B26"/>
                </a:solidFill>
                <a:latin typeface="Arial"/>
              </a:rPr>
              <a:t>•  Assesses knowledge K1–K7</a:t>
            </a:r>
          </a:p>
          <a:p>
            <a:pPr>
              <a:spcAft>
                <a:spcPts val="900"/>
              </a:spcAft>
            </a:pPr>
            <a:r>
              <a:rPr sz="1400" b="0">
                <a:solidFill>
                  <a:srgbClr val="161B26"/>
                </a:solidFill>
                <a:latin typeface="Arial"/>
              </a:rPr>
              <a:t>•  Open book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What you may use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course slides</a:t>
            </a:r>
          </a:p>
          <a:p>
            <a:pPr>
              <a:spcAft>
                <a:spcPts val="900"/>
              </a:spcAft>
            </a:pPr>
            <a:r>
              <a:rPr sz="1400" b="0">
                <a:solidFill>
                  <a:srgbClr val="161B26"/>
                </a:solidFill>
                <a:latin typeface="Arial"/>
              </a:rPr>
              <a:t>•  Your Learner Guide</a:t>
            </a:r>
          </a:p>
          <a:p>
            <a:pPr>
              <a:spcAft>
                <a:spcPts val="900"/>
              </a:spcAft>
            </a:pPr>
            <a:r>
              <a:rPr sz="1400" b="0">
                <a:solidFill>
                  <a:srgbClr val="161B26"/>
                </a:solidFill>
                <a:latin typeface="Arial"/>
              </a:rPr>
              <a:t>•  Approved materials only</a:t>
            </a:r>
          </a:p>
          <a:p>
            <a:pPr>
              <a:spcAft>
                <a:spcPts val="900"/>
              </a:spcAft>
            </a:pPr>
            <a:r>
              <a:rPr sz="1400" b="0">
                <a:solidFill>
                  <a:srgbClr val="161B26"/>
                </a:solidFill>
                <a:latin typeface="Arial"/>
              </a:rPr>
              <a: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Complete the Practical Performance — 75 min</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Answer the Oral Questioning — 15 min, 1:1</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work as directed</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WSQ FUNDING REQUIREMENTS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Attendance</a:t>
            </a:r>
          </a:p>
          <a:p>
            <a:pPr algn="l">
              <a:spcAft>
                <a:spcPts val="300"/>
              </a:spcAft>
            </a:pPr>
            <a:r>
              <a:rPr sz="1200" b="0">
                <a:solidFill>
                  <a:srgbClr val="5B6372"/>
                </a:solidFill>
                <a:latin typeface="Arial"/>
              </a:rPr>
              <a:t>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Assessment</a:t>
            </a:r>
          </a:p>
          <a:p>
            <a:pPr algn="l">
              <a:spcAft>
                <a:spcPts val="300"/>
              </a:spcAft>
            </a:pPr>
            <a:r>
              <a:rPr sz="1200" b="0">
                <a:solidFill>
                  <a:srgbClr val="5B6372"/>
                </a:solidFill>
                <a:latin typeface="Arial"/>
              </a:rPr>
              <a:t>Complete the assessment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 attendance</a:t>
            </a:r>
          </a:p>
          <a:p>
            <a:pPr algn="l">
              <a:spcAft>
                <a:spcPts val="300"/>
              </a:spcAft>
            </a:pPr>
            <a:r>
              <a:rPr sz="1200" b="0">
                <a:solidFill>
                  <a:srgbClr val="5B6372"/>
                </a:solidFill>
                <a:latin typeface="Arial"/>
              </a:rPr>
              <a:t>AM, PM and Assessment attendance must all be taken.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TRAQOM survey</a:t>
            </a:r>
          </a:p>
          <a:p>
            <a:pPr algn="l">
              <a:spcAft>
                <a:spcPts val="300"/>
              </a:spcAft>
            </a:pPr>
            <a:r>
              <a:rPr sz="1200" b="0">
                <a:solidFill>
                  <a:srgbClr val="5B6372"/>
                </a:solidFill>
                <a:latin typeface="Arial"/>
              </a:rPr>
              <a:t>Complete the mandatory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DAY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Building, Running and Measuring a WooCommerce Store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Topics 1–5  ·  Seven hands-on labs  ·  Final assessment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Overview of WooCommerce CMS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What WooCommerce is · Setup wizard · Themes · Widgets &amp; shortcodes · Settings, currency &amp; tax</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CONTEXT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is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what-is.png"/>
          <p:cNvPicPr>
            <a:picLocks noChangeAspect="1"/>
          </p:cNvPicPr>
          <p:nvPr/>
        </p:nvPicPr>
        <p:blipFill>
          <a:blip r:embed="rId2"/>
          <a:stretch>
            <a:fillRect/>
          </a:stretch>
        </p:blipFill>
        <p:spPr>
          <a:xfrm>
            <a:off x="1958192" y="1737360"/>
            <a:ext cx="8272567"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is an open-source, fully customisable eCommerce platform built on WordPress.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OPPORTUNITY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Why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source</a:t>
            </a:r>
          </a:p>
          <a:p>
            <a:pPr algn="l">
              <a:spcAft>
                <a:spcPts val="300"/>
              </a:spcAft>
            </a:pPr>
            <a:r>
              <a:rPr sz="1200" b="0">
                <a:solidFill>
                  <a:srgbClr val="5B6372"/>
                </a:solidFill>
                <a:latin typeface="Arial"/>
              </a:rPr>
              <a:t>Free to use, fully customisable, and owned by you — not rented from a hosted platform.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Built on WordPress</a:t>
            </a:r>
          </a:p>
          <a:p>
            <a:pPr algn="l">
              <a:spcAft>
                <a:spcPts val="300"/>
              </a:spcAft>
            </a:pPr>
            <a:r>
              <a:rPr sz="1200" b="0">
                <a:solidFill>
                  <a:srgbClr val="5B6372"/>
                </a:solidFill>
                <a:latin typeface="Arial"/>
              </a:rPr>
              <a:t>Runs on the world's most widely used CMS, so your shop and your content live together.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Every product type</a:t>
            </a:r>
          </a:p>
          <a:p>
            <a:pPr algn="l">
              <a:spcAft>
                <a:spcPts val="300"/>
              </a:spcAft>
            </a:pPr>
            <a:r>
              <a:rPr sz="1200" b="0">
                <a:solidFill>
                  <a:srgbClr val="5B6372"/>
                </a:solidFill>
                <a:latin typeface="Arial"/>
              </a:rPr>
              <a:t>Physical, digital, virtual, variable, subscription and bookable products.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Endlessly extensible</a:t>
            </a:r>
          </a:p>
          <a:p>
            <a:pPr algn="l">
              <a:spcAft>
                <a:spcPts val="300"/>
              </a:spcAft>
            </a:pPr>
            <a:r>
              <a:rPr sz="1200" b="0">
                <a:solidFill>
                  <a:srgbClr val="5B6372"/>
                </a:solidFill>
                <a:latin typeface="Arial"/>
              </a:rPr>
              <a:t>Hundreds of themes, payment gateways and extensions, plus a full developer API.</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WooCommerce is</a:t>
            </a:r>
          </a:p>
          <a:p>
            <a:pPr algn="l">
              <a:spcAft>
                <a:spcPts val="300"/>
              </a:spcAft>
            </a:pPr>
            <a:r>
              <a:rPr sz="1100" b="0">
                <a:solidFill>
                  <a:srgbClr val="5B6372"/>
                </a:solidFill>
                <a:latin typeface="Arial"/>
              </a:rPr>
              <a:t>An open-source, fully customisable eCommerce platform built on WordPress, powering a large share of the world's online stores.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Six steps to a store</a:t>
            </a:r>
          </a:p>
          <a:p>
            <a:pPr algn="l">
              <a:spcAft>
                <a:spcPts val="300"/>
              </a:spcAft>
            </a:pPr>
            <a:r>
              <a:rPr sz="1100" b="0">
                <a:solidFill>
                  <a:srgbClr val="5B6372"/>
                </a:solidFill>
                <a:latin typeface="Arial"/>
              </a:rPr>
              <a:t>Choose hosting, install WordPress, pick a theme, activate WooCommerce, run the setup wizard, then extend with plugins.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System requirements</a:t>
            </a:r>
          </a:p>
          <a:p>
            <a:pPr algn="l">
              <a:spcAft>
                <a:spcPts val="300"/>
              </a:spcAft>
            </a:pPr>
            <a:r>
              <a:rPr sz="1100" b="0">
                <a:solidFill>
                  <a:srgbClr val="5B6372"/>
                </a:solidFill>
                <a:latin typeface="Arial"/>
              </a:rPr>
              <a:t>PHP 7.2+, MySQL 5.6+ or MariaDB 10.0+, a 128 MB WordPress memory limit, and HTTPS support.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Taxonomies and post types</a:t>
            </a:r>
          </a:p>
          <a:p>
            <a:pPr algn="l">
              <a:spcAft>
                <a:spcPts val="300"/>
              </a:spcAft>
            </a:pPr>
            <a:r>
              <a:rPr sz="1100" b="0">
                <a:solidFill>
                  <a:srgbClr val="5B6372"/>
                </a:solidFill>
                <a:latin typeface="Arial"/>
              </a:rPr>
              <a:t>WooCommerce adds its own post types and taxonomies to WordPress to group and structure products.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Themes and widgets</a:t>
            </a:r>
          </a:p>
          <a:p>
            <a:pPr algn="l">
              <a:spcAft>
                <a:spcPts val="300"/>
              </a:spcAft>
            </a:pPr>
            <a:r>
              <a:rPr sz="1100" b="0">
                <a:solidFill>
                  <a:srgbClr val="5B6372"/>
                </a:solidFill>
                <a:latin typeface="Arial"/>
              </a:rPr>
              <a:t>The theme sets the storefront's look; widgets surface products, filters and categories in widgetised areas.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Settings, currency and tax</a:t>
            </a:r>
          </a:p>
          <a:p>
            <a:pPr algn="l">
              <a:spcAft>
                <a:spcPts val="300"/>
              </a:spcAft>
            </a:pPr>
            <a:r>
              <a:rPr sz="1100" b="0">
                <a:solidFill>
                  <a:srgbClr val="5B6372"/>
                </a:solidFill>
                <a:latin typeface="Arial"/>
              </a:rPr>
              <a:t>General, Products, Tax, Shipping, Payments and Privacy settings define how the store behaves and prices goods.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INSPIRATION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Store Showcases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howcase.png"/>
          <p:cNvPicPr>
            <a:picLocks noChangeAspect="1"/>
          </p:cNvPicPr>
          <p:nvPr/>
        </p:nvPicPr>
        <p:blipFill>
          <a:blip r:embed="rId2"/>
          <a:stretch>
            <a:fillRect/>
          </a:stretch>
        </p:blipFill>
        <p:spPr>
          <a:xfrm>
            <a:off x="2440640" y="1737360"/>
            <a:ext cx="730767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Real stores built on WooCommerce — https://woocommerce.com/showcase/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INSPIRATION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Demo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demo-store.png"/>
          <p:cNvPicPr>
            <a:picLocks noChangeAspect="1"/>
          </p:cNvPicPr>
          <p:nvPr/>
        </p:nvPicPr>
        <p:blipFill>
          <a:blip r:embed="rId2"/>
          <a:stretch>
            <a:fillRect/>
          </a:stretch>
        </p:blipFill>
        <p:spPr>
          <a:xfrm>
            <a:off x="2393023" y="1737360"/>
            <a:ext cx="740290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 Storefront demo — https://themes.woocommerce.com/storefront/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 PATH</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Start with WooCommerce in 6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HOSTING
Meet the requirements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INSTALL WP
Set up WordPress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THEME
Pick Storefront</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ACTIVATE
Install the plugin</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SET UP
Run the wizard</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EXTEND
Add plugins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01 · BEFORE YOU INSTALL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System Requirements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PHP 7.2 or greater</a:t>
            </a:r>
          </a:p>
          <a:p>
            <a:pPr algn="l">
              <a:spcAft>
                <a:spcPts val="300"/>
              </a:spcAft>
            </a:pPr>
            <a:r>
              <a:rPr sz="1200" b="0">
                <a:solidFill>
                  <a:srgbClr val="5B6372"/>
                </a:solidFill>
                <a:latin typeface="Arial"/>
              </a:rPr>
              <a:t>The server-side language WordPress and WooCommerce run 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MySQL 5.6+ / MariaDB 10.0+</a:t>
            </a:r>
          </a:p>
          <a:p>
            <a:pPr algn="l">
              <a:spcAft>
                <a:spcPts val="300"/>
              </a:spcAft>
            </a:pPr>
            <a:r>
              <a:rPr sz="1200" b="0">
                <a:solidFill>
                  <a:srgbClr val="5B6372"/>
                </a:solidFill>
                <a:latin typeface="Arial"/>
              </a:rPr>
              <a:t>The database that stores products, orders and customers.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Memory limit 128 MB+</a:t>
            </a:r>
          </a:p>
          <a:p>
            <a:pPr algn="l">
              <a:spcAft>
                <a:spcPts val="300"/>
              </a:spcAft>
            </a:pPr>
            <a:r>
              <a:rPr sz="1200" b="0">
                <a:solidFill>
                  <a:srgbClr val="5B6372"/>
                </a:solidFill>
                <a:latin typeface="Arial"/>
              </a:rPr>
              <a:t>WordPress needs headroom to process a catalogue and orders.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HTTPS support</a:t>
            </a:r>
          </a:p>
          <a:p>
            <a:pPr algn="l">
              <a:spcAft>
                <a:spcPts val="300"/>
              </a:spcAft>
            </a:pPr>
            <a:r>
              <a:rPr sz="1200" b="0">
                <a:solidFill>
                  <a:srgbClr val="5B6372"/>
                </a:solidFill>
                <a:latin typeface="Arial"/>
              </a:rPr>
              <a:t>Essential — you are handling payment and customer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INSTALL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Install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install.png"/>
          <p:cNvPicPr>
            <a:picLocks noChangeAspect="1"/>
          </p:cNvPicPr>
          <p:nvPr/>
        </p:nvPicPr>
        <p:blipFill>
          <a:blip r:embed="rId2"/>
          <a:stretch>
            <a:fillRect/>
          </a:stretch>
        </p:blipFill>
        <p:spPr>
          <a:xfrm>
            <a:off x="1628231" y="1737360"/>
            <a:ext cx="893249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Plugins &gt; Add New &gt; search 'WooCommerce' by Automattic &gt; Install Now &gt; Activate.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INSTALL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WooCommerce Setup Wizard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etup-wizard.png"/>
          <p:cNvPicPr>
            <a:picLocks noChangeAspect="1"/>
          </p:cNvPicPr>
          <p:nvPr/>
        </p:nvPicPr>
        <p:blipFill>
          <a:blip r:embed="rId2"/>
          <a:stretch>
            <a:fillRect/>
          </a:stretch>
        </p:blipFill>
        <p:spPr>
          <a:xfrm>
            <a:off x="4115226" y="1737360"/>
            <a:ext cx="395850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On first activation the Setup Wizard configures the store for you.</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INSTALL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Store Setup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etup-wizard.png"/>
          <p:cNvPicPr>
            <a:picLocks noChangeAspect="1"/>
          </p:cNvPicPr>
          <p:nvPr/>
        </p:nvPicPr>
        <p:blipFill>
          <a:blip r:embed="rId2"/>
          <a:stretch>
            <a:fillRect/>
          </a:stretch>
        </p:blipFill>
        <p:spPr>
          <a:xfrm>
            <a:off x="4115226" y="1737360"/>
            <a:ext cx="395850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Location and currency, the type of goods you sell, and whether you sell in person.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HOW WOOCOMMERCE STRUCTURES CONTENT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Taxonomies and Post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Post types</a:t>
            </a:r>
          </a:p>
          <a:p>
            <a:pPr algn="l">
              <a:spcAft>
                <a:spcPts val="300"/>
              </a:spcAft>
            </a:pPr>
            <a:r>
              <a:rPr sz="1100" b="0">
                <a:solidFill>
                  <a:srgbClr val="5B6372"/>
                </a:solidFill>
                <a:latin typeface="Arial"/>
              </a:rPr>
              <a:t>WordPress separates content into types — posts, pages, attachments. WooCommerce adds 'product'.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Taxonomies</a:t>
            </a:r>
          </a:p>
          <a:p>
            <a:pPr algn="l">
              <a:spcAft>
                <a:spcPts val="300"/>
              </a:spcAft>
            </a:pPr>
            <a:r>
              <a:rPr sz="1100" b="0">
                <a:solidFill>
                  <a:srgbClr val="5B6372"/>
                </a:solidFill>
                <a:latin typeface="Arial"/>
              </a:rPr>
              <a:t>A grouping of post types — categories and tags. WooCommerce adds product categories, tags and attributes.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structure is what lets you filter, browse and curate a catalogue rather than a pile of pages.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Created for you</a:t>
            </a:r>
          </a:p>
          <a:p>
            <a:pPr algn="l">
              <a:spcAft>
                <a:spcPts val="300"/>
              </a:spcAft>
            </a:pPr>
            <a:r>
              <a:rPr sz="1100" b="0">
                <a:solidFill>
                  <a:srgbClr val="5B6372"/>
                </a:solidFill>
                <a:latin typeface="Arial"/>
              </a:rPr>
              <a:t>The setup wizard registers these automatically when WooCommerce is activated.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Professional WooCommerce Themes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themes-official.png"/>
          <p:cNvPicPr>
            <a:picLocks noChangeAspect="1"/>
          </p:cNvPicPr>
          <p:nvPr/>
        </p:nvPicPr>
        <p:blipFill>
          <a:blip r:embed="rId2"/>
          <a:stretch>
            <a:fillRect/>
          </a:stretch>
        </p:blipFill>
        <p:spPr>
          <a:xfrm>
            <a:off x="1760425" y="1737360"/>
            <a:ext cx="866810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Official themes — https://woocommerce.com/product-category/themes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Third-Party WooCommerce Themes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themes-forest.png"/>
          <p:cNvPicPr>
            <a:picLocks noChangeAspect="1"/>
          </p:cNvPicPr>
          <p:nvPr/>
        </p:nvPicPr>
        <p:blipFill>
          <a:blip r:embed="rId2"/>
          <a:stretch>
            <a:fillRect/>
          </a:stretch>
        </p:blipFill>
        <p:spPr>
          <a:xfrm>
            <a:off x="1186213" y="1737360"/>
            <a:ext cx="981652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ThemeForest — https://themeforest.net/category/wordpress/ecommerce/woocommerce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THEMES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Choosing the Right Theme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Aesthetic</a:t>
            </a:r>
          </a:p>
          <a:p>
            <a:pPr algn="l">
              <a:spcAft>
                <a:spcPts val="300"/>
              </a:spcAft>
            </a:pPr>
            <a:r>
              <a:rPr sz="1200" b="0">
                <a:solidFill>
                  <a:srgbClr val="5B6372"/>
                </a:solidFill>
                <a:latin typeface="Arial"/>
              </a:rPr>
              <a:t>Does it suit your brand and the products you sell?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Release frequency</a:t>
            </a:r>
          </a:p>
          <a:p>
            <a:pPr algn="l">
              <a:spcAft>
                <a:spcPts val="300"/>
              </a:spcAft>
            </a:pPr>
            <a:r>
              <a:rPr sz="1200" b="0">
                <a:solidFill>
                  <a:srgbClr val="5B6372"/>
                </a:solidFill>
                <a:latin typeface="Arial"/>
              </a:rPr>
              <a:t>An actively maintained theme keeps pace with WooCommerce updates.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Support</a:t>
            </a:r>
          </a:p>
          <a:p>
            <a:pPr algn="l">
              <a:spcAft>
                <a:spcPts val="300"/>
              </a:spcAft>
            </a:pPr>
            <a:r>
              <a:rPr sz="1200" b="0">
                <a:solidFill>
                  <a:srgbClr val="5B6372"/>
                </a:solidFill>
                <a:latin typeface="Arial"/>
              </a:rPr>
              <a:t>Is there documentation and a responsive support channel?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Custom functionality</a:t>
            </a:r>
          </a:p>
          <a:p>
            <a:pPr algn="l">
              <a:spcAft>
                <a:spcPts val="300"/>
              </a:spcAft>
            </a:pPr>
            <a:r>
              <a:rPr sz="1200" b="0">
                <a:solidFill>
                  <a:srgbClr val="5B6372"/>
                </a:solidFill>
                <a:latin typeface="Arial"/>
              </a:rPr>
              <a:t>What does it add beyond styling — and will that lock you in?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Responsive</a:t>
            </a:r>
          </a:p>
          <a:p>
            <a:pPr algn="l">
              <a:spcAft>
                <a:spcPts val="300"/>
              </a:spcAft>
            </a:pPr>
            <a:r>
              <a:rPr sz="1200" b="0">
                <a:solidFill>
                  <a:srgbClr val="5B6372"/>
                </a:solidFill>
                <a:latin typeface="Arial"/>
              </a:rPr>
              <a:t>It must work on a phone; most storefront traffic is mobile.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Compatibility</a:t>
            </a:r>
          </a:p>
          <a:p>
            <a:pPr algn="l">
              <a:spcAft>
                <a:spcPts val="300"/>
              </a:spcAft>
            </a:pPr>
            <a:r>
              <a:rPr sz="1200" b="0">
                <a:solidFill>
                  <a:srgbClr val="5B6372"/>
                </a:solidFill>
                <a:latin typeface="Arial"/>
              </a:rPr>
              <a:t>Confirm it declares WooCommerce support explicitly.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Widgets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Product widgets</a:t>
            </a:r>
          </a:p>
          <a:p>
            <a:pPr algn="l">
              <a:spcAft>
                <a:spcPts val="300"/>
              </a:spcAft>
            </a:pPr>
            <a:r>
              <a:rPr sz="1100" b="0">
                <a:solidFill>
                  <a:srgbClr val="5B6372"/>
                </a:solidFill>
                <a:latin typeface="Arial"/>
              </a:rPr>
              <a:t>Products, Products by Rating, Recent Product Reviews, Recently Viewed Products.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Filter widgets</a:t>
            </a:r>
          </a:p>
          <a:p>
            <a:pPr algn="l">
              <a:spcAft>
                <a:spcPts val="300"/>
              </a:spcAft>
            </a:pPr>
            <a:r>
              <a:rPr sz="1100" b="0">
                <a:solidFill>
                  <a:srgbClr val="5B6372"/>
                </a:solidFill>
                <a:latin typeface="Arial"/>
              </a:rPr>
              <a:t>Filter by Attribute, Filter by Price, Filter by Rating, plus Active Product Filters.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Navigation widgets</a:t>
            </a:r>
          </a:p>
          <a:p>
            <a:pPr algn="l">
              <a:spcAft>
                <a:spcPts val="300"/>
              </a:spcAft>
            </a:pPr>
            <a:r>
              <a:rPr sz="1100" b="0">
                <a:solidFill>
                  <a:srgbClr val="5B6372"/>
                </a:solidFill>
                <a:latin typeface="Arial"/>
              </a:rPr>
              <a:t>Product Categories as a list or dropdown, and a Product Tag Cloud.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Utility widgets</a:t>
            </a:r>
          </a:p>
          <a:p>
            <a:pPr algn="l">
              <a:spcAft>
                <a:spcPts val="300"/>
              </a:spcAft>
            </a:pPr>
            <a:r>
              <a:rPr sz="1100" b="0">
                <a:solidFill>
                  <a:srgbClr val="5B6372"/>
                </a:solidFill>
                <a:latin typeface="Arial"/>
              </a:rPr>
              <a:t>Cart and Product Search, so customers can buy and find from any page.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 Widget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dd-widget.png"/>
          <p:cNvPicPr>
            <a:picLocks noChangeAspect="1"/>
          </p:cNvPicPr>
          <p:nvPr/>
        </p:nvPicPr>
        <p:blipFill>
          <a:blip r:embed="rId2"/>
          <a:stretch>
            <a:fillRect/>
          </a:stretch>
        </p:blipFill>
        <p:spPr>
          <a:xfrm>
            <a:off x="3699214" y="1737360"/>
            <a:ext cx="479052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Appearance &gt; Widgets — choose a widget area, then Add Widget.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Products Widget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roduct-widget.png"/>
          <p:cNvPicPr>
            <a:picLocks noChangeAspect="1"/>
          </p:cNvPicPr>
          <p:nvPr/>
        </p:nvPicPr>
        <p:blipFill>
          <a:blip r:embed="rId2"/>
          <a:stretch>
            <a:fillRect/>
          </a:stretch>
        </p:blipFill>
        <p:spPr>
          <a:xfrm>
            <a:off x="4835371" y="1737360"/>
            <a:ext cx="251820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Show products by date, price, sales or randomly — all, featured only, or on sale.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Filter Products by Price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ilter-price.png"/>
          <p:cNvPicPr>
            <a:picLocks noChangeAspect="1"/>
          </p:cNvPicPr>
          <p:nvPr/>
        </p:nvPicPr>
        <p:blipFill>
          <a:blip r:embed="rId2"/>
          <a:stretch>
            <a:fillRect/>
          </a:stretch>
        </p:blipFill>
        <p:spPr>
          <a:xfrm>
            <a:off x="1398131" y="1737360"/>
            <a:ext cx="939268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 slider that auto-detects the minimum and maximum prices on the page.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Filter Products by Attribute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ilter-attr.png"/>
          <p:cNvPicPr>
            <a:picLocks noChangeAspect="1"/>
          </p:cNvPicPr>
          <p:nvPr/>
        </p:nvPicPr>
        <p:blipFill>
          <a:blip r:embed="rId2"/>
          <a:stretch>
            <a:fillRect/>
          </a:stretch>
        </p:blipFill>
        <p:spPr>
          <a:xfrm>
            <a:off x="1104065" y="1737360"/>
            <a:ext cx="998082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Layered navigation — AND returns products matching both terms, OR matches either.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SHORTCODES — ADDED AUTOMATICALLY BY THE WIZARD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Shortcodes Included with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[woocommerce_cart]</a:t>
            </a:r>
          </a:p>
          <a:p>
            <a:pPr algn="l">
              <a:spcAft>
                <a:spcPts val="300"/>
              </a:spcAft>
            </a:pPr>
            <a:r>
              <a:rPr sz="1200" b="0">
                <a:solidFill>
                  <a:srgbClr val="5B6372"/>
                </a:solidFill>
                <a:latin typeface="Arial"/>
              </a:rPr>
              <a:t>Renders the cart page.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[woocommerce_checkout]</a:t>
            </a:r>
          </a:p>
          <a:p>
            <a:pPr algn="l">
              <a:spcAft>
                <a:spcPts val="300"/>
              </a:spcAft>
            </a:pPr>
            <a:r>
              <a:rPr sz="1200" b="0">
                <a:solidFill>
                  <a:srgbClr val="5B6372"/>
                </a:solidFill>
                <a:latin typeface="Arial"/>
              </a:rPr>
              <a:t>Renders the checkout page.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[woocommerce_my_account]</a:t>
            </a:r>
          </a:p>
          <a:p>
            <a:pPr algn="l">
              <a:spcAft>
                <a:spcPts val="300"/>
              </a:spcAft>
            </a:pPr>
            <a:r>
              <a:rPr sz="1200" b="0">
                <a:solidFill>
                  <a:srgbClr val="5B6372"/>
                </a:solidFill>
                <a:latin typeface="Arial"/>
              </a:rPr>
              <a:t>Renders the customer account page.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[woocommerce_order_tracking]</a:t>
            </a:r>
          </a:p>
          <a:p>
            <a:pPr algn="l">
              <a:spcAft>
                <a:spcPts val="300"/>
              </a:spcAft>
            </a:pPr>
            <a:r>
              <a:rPr sz="1200" b="0">
                <a:solidFill>
                  <a:srgbClr val="5B6372"/>
                </a:solidFill>
                <a:latin typeface="Arial"/>
              </a:rPr>
              <a:t>Renders the order tracking form.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 ADMIN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Menu Items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menu-items.png"/>
          <p:cNvPicPr>
            <a:picLocks noChangeAspect="1"/>
          </p:cNvPicPr>
          <p:nvPr/>
        </p:nvPicPr>
        <p:blipFill>
          <a:blip r:embed="rId2"/>
          <a:stretch>
            <a:fillRect/>
          </a:stretch>
        </p:blipFill>
        <p:spPr>
          <a:xfrm>
            <a:off x="4527157" y="1737360"/>
            <a:ext cx="313463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Orders, Coupons, Reports and Settings — the four places you work every day.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WOOCOMMERCE &gt; SETTINGS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Configuring WooCommerce Settings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General</a:t>
            </a:r>
          </a:p>
          <a:p>
            <a:pPr algn="l">
              <a:spcAft>
                <a:spcPts val="300"/>
              </a:spcAft>
            </a:pPr>
            <a:r>
              <a:rPr sz="1100" b="0">
                <a:solidFill>
                  <a:srgbClr val="5B6372"/>
                </a:solidFill>
                <a:latin typeface="Arial"/>
              </a:rPr>
              <a:t>Store address, selling and shipping locations, taxes and currency options.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Products</a:t>
            </a:r>
          </a:p>
          <a:p>
            <a:pPr algn="l">
              <a:spcAft>
                <a:spcPts val="300"/>
              </a:spcAft>
            </a:pPr>
            <a:r>
              <a:rPr sz="1100" b="0">
                <a:solidFill>
                  <a:srgbClr val="5B6372"/>
                </a:solidFill>
                <a:latin typeface="Arial"/>
              </a:rPr>
              <a:t>Shop pages, measurements, reviews, inventory and downloadable products.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Tax</a:t>
            </a:r>
          </a:p>
          <a:p>
            <a:pPr algn="l">
              <a:spcAft>
                <a:spcPts val="300"/>
              </a:spcAft>
            </a:pPr>
            <a:r>
              <a:rPr sz="1100" b="0">
                <a:solidFill>
                  <a:srgbClr val="5B6372"/>
                </a:solidFill>
                <a:latin typeface="Arial"/>
              </a:rPr>
              <a:t>Prices entered with tax, tax rates, and how tax is calculated and displayed.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Shipping</a:t>
            </a:r>
          </a:p>
          <a:p>
            <a:pPr algn="l">
              <a:spcAft>
                <a:spcPts val="300"/>
              </a:spcAft>
            </a:pPr>
            <a:r>
              <a:rPr sz="1100" b="0">
                <a:solidFill>
                  <a:srgbClr val="5B6372"/>
                </a:solidFill>
                <a:latin typeface="Arial"/>
              </a:rPr>
              <a:t>Shipping zones, methods, classes and shipping options.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Payments</a:t>
            </a:r>
          </a:p>
          <a:p>
            <a:pPr algn="l">
              <a:spcAft>
                <a:spcPts val="300"/>
              </a:spcAft>
            </a:pPr>
            <a:r>
              <a:rPr sz="1100" b="0">
                <a:solidFill>
                  <a:srgbClr val="5B6372"/>
                </a:solidFill>
                <a:latin typeface="Arial"/>
              </a:rPr>
              <a:t>Which gateways are enabled and the order they appear at checkout.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Accounts &amp; Privacy</a:t>
            </a:r>
          </a:p>
          <a:p>
            <a:pPr algn="l">
              <a:spcAft>
                <a:spcPts val="300"/>
              </a:spcAft>
            </a:pPr>
            <a:r>
              <a:rPr sz="1100" b="0">
                <a:solidFill>
                  <a:srgbClr val="5B6372"/>
                </a:solidFill>
                <a:latin typeface="Arial"/>
              </a:rPr>
              <a:t>Guest checkout, account creation, and data retention policy.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SETTINGS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Shop Currency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currency.png"/>
          <p:cNvPicPr>
            <a:picLocks noChangeAspect="1"/>
          </p:cNvPicPr>
          <p:nvPr/>
        </p:nvPicPr>
        <p:blipFill>
          <a:blip r:embed="rId2"/>
          <a:stretch>
            <a:fillRect/>
          </a:stretch>
        </p:blipFill>
        <p:spPr>
          <a:xfrm>
            <a:off x="2674871" y="1737360"/>
            <a:ext cx="683921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Settings &gt; General &gt; Currency options.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TAX</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Enabling Taxes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enable-tax.png"/>
          <p:cNvPicPr>
            <a:picLocks noChangeAspect="1"/>
          </p:cNvPicPr>
          <p:nvPr/>
        </p:nvPicPr>
        <p:blipFill>
          <a:blip r:embed="rId2"/>
          <a:stretch>
            <a:fillRect/>
          </a:stretch>
        </p:blipFill>
        <p:spPr>
          <a:xfrm>
            <a:off x="1172725" y="1737360"/>
            <a:ext cx="984350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Tick 'Enable taxes and tax calculations' — the Tax tab then appears.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TAX</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Configuring Tax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tax-options.png"/>
          <p:cNvPicPr>
            <a:picLocks noChangeAspect="1"/>
          </p:cNvPicPr>
          <p:nvPr/>
        </p:nvPicPr>
        <p:blipFill>
          <a:blip r:embed="rId2"/>
          <a:stretch>
            <a:fillRect/>
          </a:stretch>
        </p:blipFill>
        <p:spPr>
          <a:xfrm>
            <a:off x="4183222" y="1737360"/>
            <a:ext cx="382250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Settings &gt; Tax — visible only once taxes are enabled.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01 · THE MOST IMPORTANT TAX DECISION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Prices Entered With Tax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Inclusive</a:t>
            </a:r>
          </a:p>
          <a:p>
            <a:pPr algn="l">
              <a:spcAft>
                <a:spcPts val="300"/>
              </a:spcAft>
            </a:pPr>
            <a:r>
              <a:rPr sz="1100" b="0">
                <a:solidFill>
                  <a:srgbClr val="5B6372"/>
                </a:solidFill>
                <a:latin typeface="Arial"/>
              </a:rPr>
              <a:t>'Yes, I will enter prices inclusive of tax' — catalogue prices already contain the base tax rate.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Exclusive</a:t>
            </a:r>
          </a:p>
          <a:p>
            <a:pPr algn="l">
              <a:spcAft>
                <a:spcPts val="300"/>
              </a:spcAft>
            </a:pPr>
            <a:r>
              <a:rPr sz="1100" b="0">
                <a:solidFill>
                  <a:srgbClr val="5B6372"/>
                </a:solidFill>
                <a:latin typeface="Arial"/>
              </a:rPr>
              <a:t>'No, I will enter prices exclusive of tax' — tax is added on top at checkout.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Inclusive formula</a:t>
            </a:r>
          </a:p>
          <a:p>
            <a:pPr algn="l">
              <a:spcAft>
                <a:spcPts val="300"/>
              </a:spcAft>
            </a:pPr>
            <a:r>
              <a:rPr sz="1100" b="0">
                <a:solidFill>
                  <a:srgbClr val="5B6372"/>
                </a:solidFill>
                <a:latin typeface="Arial"/>
              </a:rPr>
              <a:t>tax_amount = price − ( price / ( ( tax_rate% / 100 ) + 1 ) )</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Exclusive formula</a:t>
            </a:r>
          </a:p>
          <a:p>
            <a:pPr algn="l">
              <a:spcAft>
                <a:spcPts val="300"/>
              </a:spcAft>
            </a:pPr>
            <a:r>
              <a:rPr sz="1100" b="0">
                <a:solidFill>
                  <a:srgbClr val="5B6372"/>
                </a:solidFill>
                <a:latin typeface="Arial"/>
              </a:rPr>
              <a:t>tax_amount = price × ( tax_rate% / 100 )</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Set Up Your WooCommerce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Set up and monitor a WooCommerce CMS so it adheres to store guidelines and policies (A1, K1).</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Install the WooCommerce plugin on a WordPress site, work through the setup wizard to define the store's location, currency and industry, then apply the Storefront theme and confirm the shop, cart, checkout and My Account pages have been created. You finish by setting the currency and tax options that every price in the store will follow.</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working WooCommerce store with its currency, tax and core pages configured</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The setup wizard is where store-wide policy is set. Currency, tax treatment and page structure decide how every product is priced and presented — getting them right first avoids re-pricing an entire catalogue later.</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Plugins &gt; Add New · WooCommerce Setup Wizard · Appearance &gt; Themes · WooCommerce &gt; Settings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01 · DISCUSSION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Discussion — Content Management Policies for Your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15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In pairs, consider a store you would run. Decide what content management policies, guidelines and user permissions it needs, and how you would monitor that people actually follow them.</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Who should be able to publish a product, and who should only be able to draft one?</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WordPress/WooCommerce roles map to those responsibilities?</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product-content guidelines would you set — image size, description length, mandatory fields?</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How would you detect that a policy is not being followed?</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short policy statement: the roles, the content guidelines, and how adherence is monitored.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 Products on WooCommerce Store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Product types · Images &amp; galleries · Variations · Categories, tags &amp; attributes · Up-sells · CSV import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Product types</a:t>
            </a:r>
          </a:p>
          <a:p>
            <a:pPr algn="l">
              <a:spcAft>
                <a:spcPts val="300"/>
              </a:spcAft>
            </a:pPr>
            <a:r>
              <a:rPr sz="1100" b="0">
                <a:solidFill>
                  <a:srgbClr val="5B6372"/>
                </a:solidFill>
                <a:latin typeface="Arial"/>
              </a:rPr>
              <a:t>Simple, Grouped, Virtual, Downloadable, External/Affiliate and Variable each model a different kind of offer.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Product Data panel</a:t>
            </a:r>
          </a:p>
          <a:p>
            <a:pPr algn="l">
              <a:spcAft>
                <a:spcPts val="300"/>
              </a:spcAft>
            </a:pPr>
            <a:r>
              <a:rPr sz="1100" b="0">
                <a:solidFill>
                  <a:srgbClr val="5B6372"/>
                </a:solidFill>
                <a:latin typeface="Arial"/>
              </a:rPr>
              <a:t>General, Inventory, Shipping, Linked Products and Attributes — where the substance of a product is defined.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Images and galleries</a:t>
            </a:r>
          </a:p>
          <a:p>
            <a:pPr algn="l">
              <a:spcAft>
                <a:spcPts val="300"/>
              </a:spcAft>
            </a:pPr>
            <a:r>
              <a:rPr sz="1100" b="0">
                <a:solidFill>
                  <a:srgbClr val="5B6372"/>
                </a:solidFill>
                <a:latin typeface="Arial"/>
              </a:rPr>
              <a:t>A featured image plus a gallery, with catalogue visibility controlling where the product appears.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Categories, tags, attributes</a:t>
            </a:r>
          </a:p>
          <a:p>
            <a:pPr algn="l">
              <a:spcAft>
                <a:spcPts val="300"/>
              </a:spcAft>
            </a:pPr>
            <a:r>
              <a:rPr sz="1100" b="0">
                <a:solidFill>
                  <a:srgbClr val="5B6372"/>
                </a:solidFill>
                <a:latin typeface="Arial"/>
              </a:rPr>
              <a:t>Categories are hierarchical, tags are flat, and attributes drive filtering and product variations.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Up-sells and cross-sells</a:t>
            </a:r>
          </a:p>
          <a:p>
            <a:pPr algn="l">
              <a:spcAft>
                <a:spcPts val="300"/>
              </a:spcAft>
            </a:pPr>
            <a:r>
              <a:rPr sz="1100" b="0">
                <a:solidFill>
                  <a:srgbClr val="5B6372"/>
                </a:solidFill>
                <a:latin typeface="Arial"/>
              </a:rPr>
              <a:t>Up-sells appear on the product page; cross-sells appear in the cart; related products are automatic.</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CSV import and export</a:t>
            </a:r>
          </a:p>
          <a:p>
            <a:pPr algn="l">
              <a:spcAft>
                <a:spcPts val="300"/>
              </a:spcAft>
            </a:pPr>
            <a:r>
              <a:rPr sz="1100" b="0">
                <a:solidFill>
                  <a:srgbClr val="5B6372"/>
                </a:solidFill>
                <a:latin typeface="Arial"/>
              </a:rPr>
              <a:t>Create or update hundreds of products in one pass, including variations, from a single CSV file.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SIX CORE TYPES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Simple</a:t>
            </a:r>
          </a:p>
          <a:p>
            <a:pPr algn="l">
              <a:spcAft>
                <a:spcPts val="300"/>
              </a:spcAft>
            </a:pPr>
            <a:r>
              <a:rPr sz="1100" b="0">
                <a:solidFill>
                  <a:srgbClr val="5B6372"/>
                </a:solidFill>
                <a:latin typeface="Arial"/>
              </a:rPr>
              <a:t>The majority of products — shipped, with no options. For example, a book.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Grouped</a:t>
            </a:r>
          </a:p>
          <a:p>
            <a:pPr algn="l">
              <a:spcAft>
                <a:spcPts val="300"/>
              </a:spcAft>
            </a:pPr>
            <a:r>
              <a:rPr sz="1100" b="0">
                <a:solidFill>
                  <a:srgbClr val="5B6372"/>
                </a:solidFill>
                <a:latin typeface="Arial"/>
              </a:rPr>
              <a:t>A collection of related simple products bought individually, e.g. a set of six glasses.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Virtual</a:t>
            </a:r>
          </a:p>
          <a:p>
            <a:pPr algn="l">
              <a:spcAft>
                <a:spcPts val="300"/>
              </a:spcAft>
            </a:pPr>
            <a:r>
              <a:rPr sz="1100" b="0">
                <a:solidFill>
                  <a:srgbClr val="5B6372"/>
                </a:solidFill>
                <a:latin typeface="Arial"/>
              </a:rPr>
              <a:t>Needs no shipping — a service. Disables all shipping fields and the cart calculator.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Downloadable</a:t>
            </a:r>
          </a:p>
          <a:p>
            <a:pPr algn="l">
              <a:spcAft>
                <a:spcPts val="300"/>
              </a:spcAft>
            </a:pPr>
            <a:r>
              <a:rPr sz="1100" b="0">
                <a:solidFill>
                  <a:srgbClr val="5B6372"/>
                </a:solidFill>
                <a:latin typeface="Arial"/>
              </a:rPr>
              <a:t>The customer receives a file after purchase — an album, PDF or photo.</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External / Affiliate</a:t>
            </a:r>
          </a:p>
          <a:p>
            <a:pPr algn="l">
              <a:spcAft>
                <a:spcPts val="300"/>
              </a:spcAft>
            </a:pPr>
            <a:r>
              <a:rPr sz="1100" b="0">
                <a:solidFill>
                  <a:srgbClr val="5B6372"/>
                </a:solidFill>
                <a:latin typeface="Arial"/>
              </a:rPr>
              <a:t>Listed and described on your site, but sold elsewhere.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Variable</a:t>
            </a:r>
          </a:p>
          <a:p>
            <a:pPr algn="l">
              <a:spcAft>
                <a:spcPts val="300"/>
              </a:spcAft>
            </a:pPr>
            <a:r>
              <a:rPr sz="1100" b="0">
                <a:solidFill>
                  <a:srgbClr val="5B6372"/>
                </a:solidFill>
                <a:latin typeface="Arial"/>
              </a:rPr>
              <a:t>Variations with their own SKU, price and stock — e.g. a t-shirt in sizes and colours.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PRODUCTS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 Simple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dd-simple-product.png"/>
          <p:cNvPicPr>
            <a:picLocks noChangeAspect="1"/>
          </p:cNvPicPr>
          <p:nvPr/>
        </p:nvPicPr>
        <p:blipFill>
          <a:blip r:embed="rId2"/>
          <a:stretch>
            <a:fillRect/>
          </a:stretch>
        </p:blipFill>
        <p:spPr>
          <a:xfrm>
            <a:off x="1389126" y="1737360"/>
            <a:ext cx="941070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Products &gt; Add New — a familiar WordPress editing interface.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PRODUCTS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Product Data Panel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roduct-data.png"/>
          <p:cNvPicPr>
            <a:picLocks noChangeAspect="1"/>
          </p:cNvPicPr>
          <p:nvPr/>
        </p:nvPicPr>
        <p:blipFill>
          <a:blip r:embed="rId2"/>
          <a:stretch>
            <a:fillRect/>
          </a:stretch>
        </p:blipFill>
        <p:spPr>
          <a:xfrm>
            <a:off x="777240" y="2061419"/>
            <a:ext cx="10634472" cy="3512401"/>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General, Inventory, Shipping, Linked Products, Attributes and Advanced.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CONTENT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Short Description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hort-desc.png"/>
          <p:cNvPicPr>
            <a:picLocks noChangeAspect="1"/>
          </p:cNvPicPr>
          <p:nvPr/>
        </p:nvPicPr>
        <p:blipFill>
          <a:blip r:embed="rId2"/>
          <a:stretch>
            <a:fillRect/>
          </a:stretch>
        </p:blipFill>
        <p:spPr>
          <a:xfrm>
            <a:off x="2708636" y="1737360"/>
            <a:ext cx="677167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 excerpt beside the product image; the long description fills the Description tab.</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TAXONOMIES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Categories and Tags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taxonomies.png"/>
          <p:cNvPicPr>
            <a:picLocks noChangeAspect="1"/>
          </p:cNvPicPr>
          <p:nvPr/>
        </p:nvPicPr>
        <p:blipFill>
          <a:blip r:embed="rId2"/>
          <a:stretch>
            <a:fillRect/>
          </a:stretch>
        </p:blipFill>
        <p:spPr>
          <a:xfrm>
            <a:off x="5022397" y="1737360"/>
            <a:ext cx="214415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Assigned from the right-hand column, exactly like a WordPress post.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MEDIA</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Images and Galleries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roduct-images.png"/>
          <p:cNvPicPr>
            <a:picLocks noChangeAspect="1"/>
          </p:cNvPicPr>
          <p:nvPr/>
        </p:nvPicPr>
        <p:blipFill>
          <a:blip r:embed="rId2"/>
          <a:stretch>
            <a:fillRect/>
          </a:stretch>
        </p:blipFill>
        <p:spPr>
          <a:xfrm>
            <a:off x="4711364" y="1737360"/>
            <a:ext cx="276622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 featured image plus a gallery — and catalogue visibility controls where it appears.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WHERE A PRODUCT APPEARS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Catalog Visibility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Shop and search</a:t>
            </a:r>
          </a:p>
          <a:p>
            <a:pPr algn="l">
              <a:spcAft>
                <a:spcPts val="300"/>
              </a:spcAft>
            </a:pPr>
            <a:r>
              <a:rPr sz="1200" b="0">
                <a:solidFill>
                  <a:srgbClr val="5B6372"/>
                </a:solidFill>
                <a:latin typeface="Arial"/>
              </a:rPr>
              <a:t>Visible everywhere — shop pages, category pages and search results.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Shop only</a:t>
            </a:r>
          </a:p>
          <a:p>
            <a:pPr algn="l">
              <a:spcAft>
                <a:spcPts val="300"/>
              </a:spcAft>
            </a:pPr>
            <a:r>
              <a:rPr sz="1200" b="0">
                <a:solidFill>
                  <a:srgbClr val="5B6372"/>
                </a:solidFill>
                <a:latin typeface="Arial"/>
              </a:rPr>
              <a:t>Visible in shop and category pages, but not in search results.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Search only</a:t>
            </a:r>
          </a:p>
          <a:p>
            <a:pPr algn="l">
              <a:spcAft>
                <a:spcPts val="300"/>
              </a:spcAft>
            </a:pPr>
            <a:r>
              <a:rPr sz="1200" b="0">
                <a:solidFill>
                  <a:srgbClr val="5B6372"/>
                </a:solidFill>
                <a:latin typeface="Arial"/>
              </a:rPr>
              <a:t>Visible in search results, but not in the shop or category pages.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Hidden</a:t>
            </a:r>
          </a:p>
          <a:p>
            <a:pPr algn="l">
              <a:spcAft>
                <a:spcPts val="300"/>
              </a:spcAft>
            </a:pPr>
            <a:r>
              <a:rPr sz="1200" b="0">
                <a:solidFill>
                  <a:srgbClr val="5B6372"/>
                </a:solidFill>
                <a:latin typeface="Arial"/>
              </a:rPr>
              <a:t>Only reachable on its own product page — useful for unlisted or bundled items.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Create and Curate a Simple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Edit and curate product web content on the WooCommerce CMS (A6, K2, K4).</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Build your first catalogue entry. You add a simple product with a title, long and short description, price and SKU, upload a featured image and a gallery, then file it under a category and tag so customers can find it. This is the core content-curation task the CMS exists to support.</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published simple product, complete with images, price, SKU, category and tag</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Product content is the storefront's sales copy. Consistent titles, descriptions and imagery are exactly the content guidelines a CMS policy governs — and the reason curation matters.</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Products &gt; Add New · Product Data panel · Product image &amp; gallery · Categories · Tags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GROUPED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 Grouped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grouped-1.png"/>
          <p:cNvPicPr>
            <a:picLocks noChangeAspect="1"/>
          </p:cNvPicPr>
          <p:nvPr/>
        </p:nvPicPr>
        <p:blipFill>
          <a:blip r:embed="rId2"/>
          <a:stretch>
            <a:fillRect/>
          </a:stretch>
        </p:blipFill>
        <p:spPr>
          <a:xfrm>
            <a:off x="777240" y="2492504"/>
            <a:ext cx="10634472" cy="2650231"/>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Select Grouped from the Product data dropdown — price fields disappear.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GROUPED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Populating a Grouped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grouped-2.png"/>
          <p:cNvPicPr>
            <a:picLocks noChangeAspect="1"/>
          </p:cNvPicPr>
          <p:nvPr/>
        </p:nvPicPr>
        <p:blipFill>
          <a:blip r:embed="rId2"/>
          <a:stretch>
            <a:fillRect/>
          </a:stretch>
        </p:blipFill>
        <p:spPr>
          <a:xfrm>
            <a:off x="777240" y="1937456"/>
            <a:ext cx="10634472" cy="3760328"/>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Add child products from Linked Products &gt; Grouped products, then reorder by dragging.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VIRTUAL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Virtual and Downloadable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virtual-product.png"/>
          <p:cNvPicPr>
            <a:picLocks noChangeAspect="1"/>
          </p:cNvPicPr>
          <p:nvPr/>
        </p:nvPicPr>
        <p:blipFill>
          <a:blip r:embed="rId2"/>
          <a:stretch>
            <a:fillRect/>
          </a:stretch>
        </p:blipFill>
        <p:spPr>
          <a:xfrm>
            <a:off x="1150648" y="1737360"/>
            <a:ext cx="988765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Tick Virtual to remove shipping; tick Downloadable to add a file path and download limit.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VARIABLE PRODUCTS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Creating a Variable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ATTRIBUTE
e.g. Size, Colour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ENTER VALUES
Small | Medium | Large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FOR VARIATIONS
Tick the box, save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VARIATIONS
All combinations at once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PRICE &amp; STOCK
Per variation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Create a Variable Product with Attributes and Variations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Maintain product web content that carries options, pricing and stock per variation (A4, K2, K4).</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Most real products come in options. You define a custom attribute such as Size or Colour, generate the variations from it, then give each variation its own SKU, price, stock level and image — and verify the dropdowns work on the storefront.</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published variable product whose variations each carry their own price, SKU and stock</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Variations keep one product page instead of five near-duplicates. That is cleaner content, better SEO, and far less maintenance when a price or description changes.</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Product data &gt; Variable product · Attributes tab · Variations tab · Used for variations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ORGANISING THE CATALOGUE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Categories, Tags and Attributes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Product categories</a:t>
            </a:r>
          </a:p>
          <a:p>
            <a:pPr algn="l">
              <a:spcAft>
                <a:spcPts val="300"/>
              </a:spcAft>
            </a:pPr>
            <a:r>
              <a:rPr sz="1100" b="0">
                <a:solidFill>
                  <a:srgbClr val="5B6372"/>
                </a:solidFill>
                <a:latin typeface="Arial"/>
              </a:rPr>
              <a:t>Hierarchical — parents and subcategories, with a slug, description, display type and image.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Product tags</a:t>
            </a:r>
          </a:p>
          <a:p>
            <a:pPr algn="l">
              <a:spcAft>
                <a:spcPts val="300"/>
              </a:spcAft>
            </a:pPr>
            <a:r>
              <a:rPr sz="1100" b="0">
                <a:solidFill>
                  <a:srgbClr val="5B6372"/>
                </a:solidFill>
                <a:latin typeface="Arial"/>
              </a:rPr>
              <a:t>Flat, with no hierarchy. Use them for cross-cutting themes such as 'cat print' or 'summer'.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Product attributes</a:t>
            </a:r>
          </a:p>
          <a:p>
            <a:pPr algn="l">
              <a:spcAft>
                <a:spcPts val="300"/>
              </a:spcAft>
            </a:pPr>
            <a:r>
              <a:rPr sz="1100" b="0">
                <a:solidFill>
                  <a:srgbClr val="5B6372"/>
                </a:solidFill>
                <a:latin typeface="Arial"/>
              </a:rPr>
              <a:t>Per-product or global. Global attributes power layered navigation and variations.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default category</a:t>
            </a:r>
          </a:p>
          <a:p>
            <a:pPr algn="l">
              <a:spcAft>
                <a:spcPts val="300"/>
              </a:spcAft>
            </a:pPr>
            <a:r>
              <a:rPr sz="1100" b="0">
                <a:solidFill>
                  <a:srgbClr val="5B6372"/>
                </a:solidFill>
                <a:latin typeface="Arial"/>
              </a:rPr>
              <a:t>Every product must have a category; unassigned products fall into 'Uncategorized'.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CATEGORIES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Default Category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default-category.png"/>
          <p:cNvPicPr>
            <a:picLocks noChangeAspect="1"/>
          </p:cNvPicPr>
          <p:nvPr/>
        </p:nvPicPr>
        <p:blipFill>
          <a:blip r:embed="rId2"/>
          <a:stretch>
            <a:fillRect/>
          </a:stretch>
        </p:blipFill>
        <p:spPr>
          <a:xfrm>
            <a:off x="2246633" y="1737360"/>
            <a:ext cx="769568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'Uncategorized' cannot be deleted while it is the default — but it can be renamed or switched.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ATTRIBUTES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Attributes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ttributes.png"/>
          <p:cNvPicPr>
            <a:picLocks noChangeAspect="1"/>
          </p:cNvPicPr>
          <p:nvPr/>
        </p:nvPicPr>
        <p:blipFill>
          <a:blip r:embed="rId2"/>
          <a:stretch>
            <a:fillRect/>
          </a:stretch>
        </p:blipFill>
        <p:spPr>
          <a:xfrm>
            <a:off x="2326030" y="1737360"/>
            <a:ext cx="753689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Attributes drive the Filter by Attribute widget and are required for variations.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ATTRIBUTES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Managing Global Attributes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manage-attributes.png"/>
          <p:cNvPicPr>
            <a:picLocks noChangeAspect="1"/>
          </p:cNvPicPr>
          <p:nvPr/>
        </p:nvPicPr>
        <p:blipFill>
          <a:blip r:embed="rId2"/>
          <a:stretch>
            <a:fillRect/>
          </a:stretch>
        </p:blipFill>
        <p:spPr>
          <a:xfrm>
            <a:off x="777240" y="2739802"/>
            <a:ext cx="10634472" cy="2155636"/>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Products &gt; Attributes — add a name, slug, archives option and default sort order.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LINKED PRODUCTS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Linked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linked-products.png"/>
          <p:cNvPicPr>
            <a:picLocks noChangeAspect="1"/>
          </p:cNvPicPr>
          <p:nvPr/>
        </p:nvPicPr>
        <p:blipFill>
          <a:blip r:embed="rId2"/>
          <a:stretch>
            <a:fillRect/>
          </a:stretch>
        </p:blipFill>
        <p:spPr>
          <a:xfrm>
            <a:off x="777240" y="2050817"/>
            <a:ext cx="10634472" cy="3533606"/>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 data &gt; Linked Products — search for the product you want to link.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RAISING ORDER VALUE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Up-Sells, Cross-Sells and Related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Up-sells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Shown on the PRODUCT page</a:t>
            </a:r>
          </a:p>
          <a:p>
            <a:pPr>
              <a:spcAft>
                <a:spcPts val="900"/>
              </a:spcAft>
            </a:pPr>
            <a:r>
              <a:rPr sz="1400" b="0">
                <a:solidFill>
                  <a:srgbClr val="161B26"/>
                </a:solidFill>
                <a:latin typeface="Arial"/>
              </a:rPr>
              <a:t>•  Recommended INSTEAD of this item</a:t>
            </a:r>
          </a:p>
          <a:p>
            <a:pPr>
              <a:spcAft>
                <a:spcPts val="900"/>
              </a:spcAft>
            </a:pPr>
            <a:r>
              <a:rPr sz="1400" b="0">
                <a:solidFill>
                  <a:srgbClr val="161B26"/>
                </a:solidFill>
                <a:latin typeface="Arial"/>
              </a:rPr>
              <a:t>•  Typically higher value or quality</a:t>
            </a:r>
          </a:p>
          <a:p>
            <a:pPr>
              <a:spcAft>
                <a:spcPts val="900"/>
              </a:spcAft>
            </a:pPr>
            <a:r>
              <a:rPr sz="1400" b="0">
                <a:solidFill>
                  <a:srgbClr val="161B26"/>
                </a:solidFill>
                <a:latin typeface="Arial"/>
              </a:rPr>
              <a:t>•  You choose them</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Cross-sells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Shown in the CART</a:t>
            </a:r>
          </a:p>
          <a:p>
            <a:pPr>
              <a:spcAft>
                <a:spcPts val="900"/>
              </a:spcAft>
            </a:pPr>
            <a:r>
              <a:rPr sz="1400" b="0">
                <a:solidFill>
                  <a:srgbClr val="161B26"/>
                </a:solidFill>
                <a:latin typeface="Arial"/>
              </a:rPr>
              <a:t>•  Complementary to what's being bought</a:t>
            </a:r>
          </a:p>
          <a:p>
            <a:pPr>
              <a:spcAft>
                <a:spcPts val="900"/>
              </a:spcAft>
            </a:pPr>
            <a:r>
              <a:rPr sz="1400" b="0">
                <a:solidFill>
                  <a:srgbClr val="161B26"/>
                </a:solidFill>
                <a:latin typeface="Arial"/>
              </a:rPr>
              <a:t>•  e.g. a case with a laptop</a:t>
            </a:r>
          </a:p>
          <a:p>
            <a:pPr>
              <a:spcAft>
                <a:spcPts val="900"/>
              </a:spcAft>
            </a:pPr>
            <a:r>
              <a:rPr sz="1400" b="0">
                <a:solidFill>
                  <a:srgbClr val="161B26"/>
                </a:solidFill>
                <a:latin typeface="Arial"/>
              </a:rPr>
              <a:t>•  You choose them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Related products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Shown on the PRODUCT page</a:t>
            </a:r>
          </a:p>
          <a:p>
            <a:pPr>
              <a:spcAft>
                <a:spcPts val="900"/>
              </a:spcAft>
            </a:pPr>
            <a:r>
              <a:rPr sz="1400" b="0">
                <a:solidFill>
                  <a:srgbClr val="161B26"/>
                </a:solidFill>
                <a:latin typeface="Arial"/>
              </a:rPr>
              <a:t>•  Chosen AUTOMATICALLY</a:t>
            </a:r>
          </a:p>
          <a:p>
            <a:pPr>
              <a:spcAft>
                <a:spcPts val="900"/>
              </a:spcAft>
            </a:pPr>
            <a:r>
              <a:rPr sz="1400" b="0">
                <a:solidFill>
                  <a:srgbClr val="161B26"/>
                </a:solidFill>
                <a:latin typeface="Arial"/>
              </a:rPr>
              <a:t>•  Shares categories or tags</a:t>
            </a:r>
          </a:p>
          <a:p>
            <a:pPr>
              <a:spcAft>
                <a:spcPts val="900"/>
              </a:spcAft>
            </a:pPr>
            <a:r>
              <a:rPr sz="1400" b="0">
                <a:solidFill>
                  <a:srgbClr val="161B26"/>
                </a:solidFill>
                <a:latin typeface="Arial"/>
              </a:rPr>
              <a:t>•  Influenced by how you categorise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UP-SELLS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Up-Sells on the Product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upsells.png"/>
          <p:cNvPicPr>
            <a:picLocks noChangeAspect="1"/>
          </p:cNvPicPr>
          <p:nvPr/>
        </p:nvPicPr>
        <p:blipFill>
          <a:blip r:embed="rId2"/>
          <a:stretch>
            <a:fillRect/>
          </a:stretch>
        </p:blipFill>
        <p:spPr>
          <a:xfrm>
            <a:off x="3832567" y="1737360"/>
            <a:ext cx="452381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Up-sells display beneath the product description.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CROSS-SELLS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Cross-Sells in the Cart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crosssells.png"/>
          <p:cNvPicPr>
            <a:picLocks noChangeAspect="1"/>
          </p:cNvPicPr>
          <p:nvPr/>
        </p:nvPicPr>
        <p:blipFill>
          <a:blip r:embed="rId2"/>
          <a:stretch>
            <a:fillRect/>
          </a:stretch>
        </p:blipFill>
        <p:spPr>
          <a:xfrm>
            <a:off x="3316516" y="1737360"/>
            <a:ext cx="555592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Cross-sells are promoted on the cart page, based on what is already in 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RELATED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Related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related.png"/>
          <p:cNvPicPr>
            <a:picLocks noChangeAspect="1"/>
          </p:cNvPicPr>
          <p:nvPr/>
        </p:nvPicPr>
        <p:blipFill>
          <a:blip r:embed="rId2"/>
          <a:stretch>
            <a:fillRect/>
          </a:stretch>
        </p:blipFill>
        <p:spPr>
          <a:xfrm>
            <a:off x="3975423" y="1737360"/>
            <a:ext cx="423810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Automatic — pulled from products sharing the same categories or tags.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02 · BULK MAINTENANCE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CSV Importer and Exporter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Built in</a:t>
            </a:r>
          </a:p>
          <a:p>
            <a:pPr algn="l">
              <a:spcAft>
                <a:spcPts val="300"/>
              </a:spcAft>
            </a:pPr>
            <a:r>
              <a:rPr sz="1200" b="0">
                <a:solidFill>
                  <a:srgbClr val="5B6372"/>
                </a:solidFill>
                <a:latin typeface="Arial"/>
              </a:rPr>
              <a:t>Included since WooCommerce 3.1 — no plugin required.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Every product type</a:t>
            </a:r>
          </a:p>
          <a:p>
            <a:pPr algn="l">
              <a:spcAft>
                <a:spcPts val="300"/>
              </a:spcAft>
            </a:pPr>
            <a:r>
              <a:rPr sz="1200" b="0">
                <a:solidFill>
                  <a:srgbClr val="5B6372"/>
                </a:solidFill>
                <a:latin typeface="Arial"/>
              </a:rPr>
              <a:t>Supports simple, grouped, external and variable products, including variations.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For new stores</a:t>
            </a:r>
          </a:p>
          <a:p>
            <a:pPr algn="l">
              <a:spcAft>
                <a:spcPts val="300"/>
              </a:spcAft>
            </a:pPr>
            <a:r>
              <a:rPr sz="1200" b="0">
                <a:solidFill>
                  <a:srgbClr val="5B6372"/>
                </a:solidFill>
                <a:latin typeface="Arial"/>
              </a:rPr>
              <a:t>Export a template, fill it in, and launch a whole catalogue in one pass.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For existing stores</a:t>
            </a:r>
          </a:p>
          <a:p>
            <a:pPr algn="l">
              <a:spcAft>
                <a:spcPts val="300"/>
              </a:spcAft>
            </a:pPr>
            <a:r>
              <a:rPr sz="1200" b="0">
                <a:solidFill>
                  <a:srgbClr val="5B6372"/>
                </a:solidFill>
                <a:latin typeface="Arial"/>
              </a:rPr>
              <a:t>Update hundreds of products, run a sale, or sync multiple storefronts.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CSV IMPORT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Importing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import-1.png"/>
          <p:cNvPicPr>
            <a:picLocks noChangeAspect="1"/>
          </p:cNvPicPr>
          <p:nvPr/>
        </p:nvPicPr>
        <p:blipFill>
          <a:blip r:embed="rId2"/>
          <a:stretch>
            <a:fillRect/>
          </a:stretch>
        </p:blipFill>
        <p:spPr>
          <a:xfrm>
            <a:off x="3543681" y="1737360"/>
            <a:ext cx="510159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Products &gt; Import &gt; choose your CSV &gt; Continue &gt; map columns &gt; Run the importer.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CSV IMPORT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Mapping CSV Columns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import-2.png"/>
          <p:cNvPicPr>
            <a:picLocks noChangeAspect="1"/>
          </p:cNvPicPr>
          <p:nvPr/>
        </p:nvPicPr>
        <p:blipFill>
          <a:blip r:embed="rId2"/>
          <a:stretch>
            <a:fillRect/>
          </a:stretch>
        </p:blipFill>
        <p:spPr>
          <a:xfrm>
            <a:off x="3568943" y="1737360"/>
            <a:ext cx="505106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proposes a column mapping — review it before running the importer.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CUSTOMIZER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WooCommerce Customizer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customizer-1.png"/>
          <p:cNvPicPr>
            <a:picLocks noChangeAspect="1"/>
          </p:cNvPicPr>
          <p:nvPr/>
        </p:nvPicPr>
        <p:blipFill>
          <a:blip r:embed="rId2"/>
          <a:stretch>
            <a:fillRect/>
          </a:stretch>
        </p:blipFill>
        <p:spPr>
          <a:xfrm>
            <a:off x="4837652" y="1737360"/>
            <a:ext cx="2513647"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Appearance &gt; Customize &gt; WooCommerce — Store Notice, Product Catalog and Product Images.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CUSTOMIZER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Catalog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roduct-catalog.png"/>
          <p:cNvPicPr>
            <a:picLocks noChangeAspect="1"/>
          </p:cNvPicPr>
          <p:nvPr/>
        </p:nvPicPr>
        <p:blipFill>
          <a:blip r:embed="rId2"/>
          <a:stretch>
            <a:fillRect/>
          </a:stretch>
        </p:blipFill>
        <p:spPr>
          <a:xfrm>
            <a:off x="2344482" y="1737360"/>
            <a:ext cx="749998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Appearance &gt; Customize &gt; WooCommerce &gt; Product Catalog.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CUSTOMIZER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Shop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hop-page.png"/>
          <p:cNvPicPr>
            <a:picLocks noChangeAspect="1"/>
          </p:cNvPicPr>
          <p:nvPr/>
        </p:nvPicPr>
        <p:blipFill>
          <a:blip r:embed="rId2"/>
          <a:stretch>
            <a:fillRect/>
          </a:stretch>
        </p:blipFill>
        <p:spPr>
          <a:xfrm>
            <a:off x="3401447" y="1737360"/>
            <a:ext cx="538605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Display Products, Categories, or both — one choice gives the cleanest look.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BLOCKS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blocks.png"/>
          <p:cNvPicPr>
            <a:picLocks noChangeAspect="1"/>
          </p:cNvPicPr>
          <p:nvPr/>
        </p:nvPicPr>
        <p:blipFill>
          <a:blip r:embed="rId2"/>
          <a:stretch>
            <a:fillRect/>
          </a:stretch>
        </p:blipFill>
        <p:spPr>
          <a:xfrm>
            <a:off x="4485127" y="1737360"/>
            <a:ext cx="321869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 blocks for any post or page — by tag, category, attribute, best selling, on sale and more.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Curate the Catalogue — Linked Products and CSV Import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Ensure smooth maintenance and consistent bulk updates of the product catalogue (A4, K2, K4).</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Grow and maintain the catalogue efficiently. You organise categories and global attributes, link products together as up-sells and cross-sells to raise order value, then import a batch of products from a CSV file and export the catalogue for bulk editing.</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curated catalogue with categories, attributes, up-sells, cross-sells and CSV-imported products</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Editing products one at a time does not scale. Bulk import and export is how a real store launches a catalogue, runs a seasonal price change, or syncs with a supplier feed.</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Products &gt; Categories · Products &gt; Attributes · Linked Products tab · Product CSV Importer/Exporter</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 Payments and Shipping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Online &amp; offline payment methods · Gateways · Shipping zones · Flat rate, free shipping &amp; local pickup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Payment methods</a:t>
            </a:r>
          </a:p>
          <a:p>
            <a:pPr algn="l">
              <a:spcAft>
                <a:spcPts val="300"/>
              </a:spcAft>
            </a:pPr>
            <a:r>
              <a:rPr sz="1100" b="0">
                <a:solidFill>
                  <a:srgbClr val="5B6372"/>
                </a:solidFill>
                <a:latin typeface="Arial"/>
              </a:rPr>
              <a:t>Online gateways such as Stripe and PayPal, plus offline options like bank transfer, cheque and cash on delivery.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Choosing a gateway</a:t>
            </a:r>
          </a:p>
          <a:p>
            <a:pPr algn="l">
              <a:spcAft>
                <a:spcPts val="300"/>
              </a:spcAft>
            </a:pPr>
            <a:r>
              <a:rPr sz="1100" b="0">
                <a:solidFill>
                  <a:srgbClr val="5B6372"/>
                </a:solidFill>
                <a:latin typeface="Arial"/>
              </a:rPr>
              <a:t>Location, fees, supported currencies and whether the customer stays on your site all shape the decision.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Shipping zones</a:t>
            </a:r>
          </a:p>
          <a:p>
            <a:pPr algn="l">
              <a:spcAft>
                <a:spcPts val="300"/>
              </a:spcAft>
            </a:pPr>
            <a:r>
              <a:rPr sz="1100" b="0">
                <a:solidFill>
                  <a:srgbClr val="5B6372"/>
                </a:solidFill>
                <a:latin typeface="Arial"/>
              </a:rPr>
              <a:t>A zone is a geographic region; each zone carries its own shipping methods and rates.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Flat rate shipping</a:t>
            </a:r>
          </a:p>
          <a:p>
            <a:pPr algn="l">
              <a:spcAft>
                <a:spcPts val="300"/>
              </a:spcAft>
            </a:pPr>
            <a:r>
              <a:rPr sz="1100" b="0">
                <a:solidFill>
                  <a:srgbClr val="5B6372"/>
                </a:solidFill>
                <a:latin typeface="Arial"/>
              </a:rPr>
              <a:t>A standard cost per order, per item or per shipping class, defined inside a shipping zone.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Free shipping</a:t>
            </a:r>
          </a:p>
          <a:p>
            <a:pPr algn="l">
              <a:spcAft>
                <a:spcPts val="300"/>
              </a:spcAft>
            </a:pPr>
            <a:r>
              <a:rPr sz="1100" b="0">
                <a:solidFill>
                  <a:srgbClr val="5B6372"/>
                </a:solidFill>
                <a:latin typeface="Arial"/>
              </a:rPr>
              <a:t>A powerful incentive — commonly gated behind a minimum order amount or a valid coupon.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Local pickup</a:t>
            </a:r>
          </a:p>
          <a:p>
            <a:pPr algn="l">
              <a:spcAft>
                <a:spcPts val="300"/>
              </a:spcAft>
            </a:pPr>
            <a:r>
              <a:rPr sz="1100" b="0">
                <a:solidFill>
                  <a:srgbClr val="5B6372"/>
                </a:solidFill>
                <a:latin typeface="Arial"/>
              </a:rPr>
              <a:t>Lets the customer collect the order themselves, with optional cost and tax status.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PAYMENTS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Online Payment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nline-payment.png"/>
          <p:cNvPicPr>
            <a:picLocks noChangeAspect="1"/>
          </p:cNvPicPr>
          <p:nvPr/>
        </p:nvPicPr>
        <p:blipFill>
          <a:blip r:embed="rId2"/>
          <a:stretch>
            <a:fillRect/>
          </a:stretch>
        </p:blipFill>
        <p:spPr>
          <a:xfrm>
            <a:off x="4085166" y="1737360"/>
            <a:ext cx="401861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Card and wallet gateways that take payment at checkout.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ONLINE GATEWAYS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Choosing a Payment Gateway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Stripe</a:t>
            </a:r>
          </a:p>
          <a:p>
            <a:pPr algn="l">
              <a:spcAft>
                <a:spcPts val="300"/>
              </a:spcAft>
            </a:pPr>
            <a:r>
              <a:rPr sz="1100" b="0">
                <a:solidFill>
                  <a:srgbClr val="5B6372"/>
                </a:solidFill>
                <a:latin typeface="Arial"/>
              </a:rPr>
              <a:t>Supports 25+ countries and recurring payments; the customer stays on your site.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PayPal</a:t>
            </a:r>
          </a:p>
          <a:p>
            <a:pPr algn="l">
              <a:spcAft>
                <a:spcPts val="300"/>
              </a:spcAft>
            </a:pPr>
            <a:r>
              <a:rPr sz="1100" b="0">
                <a:solidFill>
                  <a:srgbClr val="5B6372"/>
                </a:solidFill>
                <a:latin typeface="Arial"/>
              </a:rPr>
              <a:t>Active in 200+ countries, with PayPal Credit available for US stores.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Square</a:t>
            </a:r>
          </a:p>
          <a:p>
            <a:pPr algn="l">
              <a:spcAft>
                <a:spcPts val="300"/>
              </a:spcAft>
            </a:pPr>
            <a:r>
              <a:rPr sz="1100" b="0">
                <a:solidFill>
                  <a:srgbClr val="5B6372"/>
                </a:solidFill>
                <a:latin typeface="Arial"/>
              </a:rPr>
              <a:t>Suits merchants who also sell in person, in a physical store.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eWAY</a:t>
            </a:r>
          </a:p>
          <a:p>
            <a:pPr algn="l">
              <a:spcAft>
                <a:spcPts val="300"/>
              </a:spcAft>
            </a:pPr>
            <a:r>
              <a:rPr sz="1100" b="0">
                <a:solidFill>
                  <a:srgbClr val="5B6372"/>
                </a:solidFill>
                <a:latin typeface="Arial"/>
              </a:rPr>
              <a:t>Takes card payments directly on your store without redirecting the customer.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Klarna</a:t>
            </a:r>
          </a:p>
          <a:p>
            <a:pPr algn="l">
              <a:spcAft>
                <a:spcPts val="300"/>
              </a:spcAft>
            </a:pPr>
            <a:r>
              <a:rPr sz="1100" b="0">
                <a:solidFill>
                  <a:srgbClr val="5B6372"/>
                </a:solidFill>
                <a:latin typeface="Arial"/>
              </a:rPr>
              <a:t>Buy-now-pay-later across Europe, the UK and the US.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Payfast</a:t>
            </a:r>
          </a:p>
          <a:p>
            <a:pPr algn="l">
              <a:spcAft>
                <a:spcPts val="300"/>
              </a:spcAft>
            </a:pPr>
            <a:r>
              <a:rPr sz="1100" b="0">
                <a:solidFill>
                  <a:srgbClr val="5B6372"/>
                </a:solidFill>
                <a:latin typeface="Arial"/>
              </a:rPr>
              <a:t>A popular South African gateway for card and EFT, with no monthly cost.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PAYMENTS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Offline Payment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ffline-payment.png"/>
          <p:cNvPicPr>
            <a:picLocks noChangeAspect="1"/>
          </p:cNvPicPr>
          <p:nvPr/>
        </p:nvPicPr>
        <p:blipFill>
          <a:blip r:embed="rId2"/>
          <a:stretch>
            <a:fillRect/>
          </a:stretch>
        </p:blipFill>
        <p:spPr>
          <a:xfrm>
            <a:off x="2873290" y="1737360"/>
            <a:ext cx="644237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Direct bank transfer, cheque and cash on delivery — the order is held until you confirm payment.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PAYMENTS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Additional Payment Gateways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ayment-gateways.png"/>
          <p:cNvPicPr>
            <a:picLocks noChangeAspect="1"/>
          </p:cNvPicPr>
          <p:nvPr/>
        </p:nvPicPr>
        <p:blipFill>
          <a:blip r:embed="rId2"/>
          <a:stretch>
            <a:fillRect/>
          </a:stretch>
        </p:blipFill>
        <p:spPr>
          <a:xfrm>
            <a:off x="2052377" y="1737360"/>
            <a:ext cx="808419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https://woocommerce.com/product-category/woocommerce-extensions/payment-gateways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SHIPPING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Shipping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hipping.png"/>
          <p:cNvPicPr>
            <a:picLocks noChangeAspect="1"/>
          </p:cNvPicPr>
          <p:nvPr/>
        </p:nvPicPr>
        <p:blipFill>
          <a:blip r:embed="rId2"/>
          <a:stretch>
            <a:fillRect/>
          </a:stretch>
        </p:blipFill>
        <p:spPr>
          <a:xfrm>
            <a:off x="2533188" y="1737360"/>
            <a:ext cx="712257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Set the unit of measurement for weight and dimensions before configuring rates.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SHIPPING ZONES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Shipping Is Structured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SHIPPING ZONE
A geographic region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SHIPPING METHOD
Flat rate, free, pickup</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METHOD SETTINGS
Title, tax status, cost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SHIPPING CLASS
Optional per-product rate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CHECKOUT
Customer picks an option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WHAT'S BUILT 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Core Shipping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Flat rate</a:t>
            </a:r>
          </a:p>
          <a:p>
            <a:pPr algn="l">
              <a:spcAft>
                <a:spcPts val="300"/>
              </a:spcAft>
            </a:pPr>
            <a:r>
              <a:rPr sz="1200" b="0">
                <a:solidFill>
                  <a:srgbClr val="5B6372"/>
                </a:solidFill>
                <a:latin typeface="Arial"/>
              </a:rPr>
              <a:t>A standard cost per order, per item or per shipping class.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Free shipping</a:t>
            </a:r>
          </a:p>
          <a:p>
            <a:pPr algn="l">
              <a:spcAft>
                <a:spcPts val="300"/>
              </a:spcAft>
            </a:pPr>
            <a:r>
              <a:rPr sz="1200" b="0">
                <a:solidFill>
                  <a:srgbClr val="5B6372"/>
                </a:solidFill>
                <a:latin typeface="Arial"/>
              </a:rPr>
              <a:t>Optionally gated behind a minimum order amount or a valid coupon.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Local pickup</a:t>
            </a:r>
          </a:p>
          <a:p>
            <a:pPr algn="l">
              <a:spcAft>
                <a:spcPts val="300"/>
              </a:spcAft>
            </a:pPr>
            <a:r>
              <a:rPr sz="1200" b="0">
                <a:solidFill>
                  <a:srgbClr val="5B6372"/>
                </a:solidFill>
                <a:latin typeface="Arial"/>
              </a:rPr>
              <a:t>The customer collects the order themselves, with optional cost.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Shipping classes</a:t>
            </a:r>
          </a:p>
          <a:p>
            <a:pPr algn="l">
              <a:spcAft>
                <a:spcPts val="300"/>
              </a:spcAft>
            </a:pPr>
            <a:r>
              <a:rPr sz="1200" b="0">
                <a:solidFill>
                  <a:srgbClr val="5B6372"/>
                </a:solidFill>
                <a:latin typeface="Arial"/>
              </a:rPr>
              <a:t>Group products that cost more to ship — bulky, fragile or heavy items.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SHIPPING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Flat Rate Shipping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lat-rate.png"/>
          <p:cNvPicPr>
            <a:picLocks noChangeAspect="1"/>
          </p:cNvPicPr>
          <p:nvPr/>
        </p:nvPicPr>
        <p:blipFill>
          <a:blip r:embed="rId2"/>
          <a:stretch>
            <a:fillRect/>
          </a:stretch>
        </p:blipFill>
        <p:spPr>
          <a:xfrm>
            <a:off x="1176092" y="1737360"/>
            <a:ext cx="983676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Added to a shipping zone, with a title, tax status and cost applied to the cart.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SHIPPING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Free Shipping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ree-shipping.png"/>
          <p:cNvPicPr>
            <a:picLocks noChangeAspect="1"/>
          </p:cNvPicPr>
          <p:nvPr/>
        </p:nvPicPr>
        <p:blipFill>
          <a:blip r:embed="rId2"/>
          <a:stretch>
            <a:fillRect/>
          </a:stretch>
        </p:blipFill>
        <p:spPr>
          <a:xfrm>
            <a:off x="2578384" y="1737360"/>
            <a:ext cx="703218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'Free shipping requires…' — commonly a minimum order amount, to lift average order value.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SHIPPING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Local Pickup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local-pickup.png"/>
          <p:cNvPicPr>
            <a:picLocks noChangeAspect="1"/>
          </p:cNvPicPr>
          <p:nvPr/>
        </p:nvPicPr>
        <p:blipFill>
          <a:blip r:embed="rId2"/>
          <a:stretch>
            <a:fillRect/>
          </a:stretch>
        </p:blipFill>
        <p:spPr>
          <a:xfrm>
            <a:off x="777240" y="1852946"/>
            <a:ext cx="10634472" cy="3929347"/>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Let customers collect the order — some stores retitle this 'Collect in store'.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Configure Payment Methods and Shipping Zones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Recommend and configure payment and shipping methods that improve customer experience (A3, K3).</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Make the store able to take money and deliver goods. You enable offline and online payment methods, then build a shipping zone for your country and add flat rate, free shipping and local pickup to it — finishing with a test checkout that proves the whole path works.</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store that accepts payment and offers three shipping options, verified by a test checkout</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Payment and shipping are where carts are abandoned. Every method you offer, and every rate you set, is a direct customer-experience decision with a measurable effect on conversion.</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WooCommerce &gt; Settings &gt; Payments · Settings &gt; Shipping · Shipping zones · Shipping classes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03 · DISCUSSION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Discussion — Recommend Payment and Shipping for Customer Experience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15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Working from the store you have built, recommend the payment and shipping mix that would give your customers the best experience — and justify the trade-offs.</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payment methods do your customers expect, and what does each one cost you?</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Does the customer stay on your site, or get redirected? Why does that matter for conversion?</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Would free shipping above a threshold raise your average order value or erode your margin?</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shipping zones do you actually serve, and what happens to orders outside them?</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recommended payment and shipping configuration with the customer-experience reason for each choice.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 Sales on WooCommerce Store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Orders &amp; order statuses · Editing single orders · Refunds &amp; restocking · Coupons and promotions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Orders and statuses</a:t>
            </a:r>
          </a:p>
          <a:p>
            <a:pPr algn="l">
              <a:spcAft>
                <a:spcPts val="300"/>
              </a:spcAft>
            </a:pPr>
            <a:r>
              <a:rPr sz="1100" b="0">
                <a:solidFill>
                  <a:srgbClr val="5B6372"/>
                </a:solidFill>
                <a:latin typeface="Arial"/>
              </a:rPr>
              <a:t>Pending, Processing, Completed, On-Hold, Cancelled, Refunded and Failed track an order's life.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Managing orders</a:t>
            </a:r>
          </a:p>
          <a:p>
            <a:pPr algn="l">
              <a:spcAft>
                <a:spcPts val="300"/>
              </a:spcAft>
            </a:pPr>
            <a:r>
              <a:rPr sz="1100" b="0">
                <a:solidFill>
                  <a:srgbClr val="5B6372"/>
                </a:solidFill>
                <a:latin typeface="Arial"/>
              </a:rPr>
              <a:t>View, filter and edit orders; change status, edit line items, add fees and apply coupons.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Adding orders manually</a:t>
            </a:r>
          </a:p>
          <a:p>
            <a:pPr algn="l">
              <a:spcAft>
                <a:spcPts val="300"/>
              </a:spcAft>
            </a:pPr>
            <a:r>
              <a:rPr sz="1100" b="0">
                <a:solidFill>
                  <a:srgbClr val="5B6372"/>
                </a:solidFill>
                <a:latin typeface="Arial"/>
              </a:rPr>
              <a:t>Phone and offline sales can be entered by hand and emailed to the customer for payment.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Refunds</a:t>
            </a:r>
          </a:p>
          <a:p>
            <a:pPr algn="l">
              <a:spcAft>
                <a:spcPts val="300"/>
              </a:spcAft>
            </a:pPr>
            <a:r>
              <a:rPr sz="1100" b="0">
                <a:solidFill>
                  <a:srgbClr val="5B6372"/>
                </a:solidFill>
                <a:latin typeface="Arial"/>
              </a:rPr>
              <a:t>Refund manually or through the gateway, with the option to restock the returned items.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Stock issues</a:t>
            </a:r>
          </a:p>
          <a:p>
            <a:pPr algn="l">
              <a:spcAft>
                <a:spcPts val="300"/>
              </a:spcAft>
            </a:pPr>
            <a:r>
              <a:rPr sz="1100" b="0">
                <a:solidFill>
                  <a:srgbClr val="5B6372"/>
                </a:solidFill>
                <a:latin typeface="Arial"/>
              </a:rPr>
              <a:t>Stock management, low-stock thresholds and out-of-stock handling prevent overselling.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Coupons and promotions</a:t>
            </a:r>
          </a:p>
          <a:p>
            <a:pPr algn="l">
              <a:spcAft>
                <a:spcPts val="300"/>
              </a:spcAft>
            </a:pPr>
            <a:r>
              <a:rPr sz="1100" b="0">
                <a:solidFill>
                  <a:srgbClr val="5B6372"/>
                </a:solidFill>
                <a:latin typeface="Arial"/>
              </a:rPr>
              <a:t>Percentage, fixed cart and fixed product discounts, with usage limits and expiry dates.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Managing Orders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rders.png"/>
          <p:cNvPicPr>
            <a:picLocks noChangeAspect="1"/>
          </p:cNvPicPr>
          <p:nvPr/>
        </p:nvPicPr>
        <p:blipFill>
          <a:blip r:embed="rId2"/>
          <a:stretch>
            <a:fillRect/>
          </a:stretch>
        </p:blipFill>
        <p:spPr>
          <a:xfrm>
            <a:off x="777240" y="2355887"/>
            <a:ext cx="10634472" cy="2923466"/>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An order is created at checkout, gets a unique ID, and carries a status through its life.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04 · THE LIFE OF AN ORDER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Order Statuses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Pending payment</a:t>
            </a:r>
          </a:p>
          <a:p>
            <a:pPr algn="l">
              <a:spcAft>
                <a:spcPts val="300"/>
              </a:spcAft>
            </a:pPr>
            <a:r>
              <a:rPr sz="1100" b="0">
                <a:solidFill>
                  <a:srgbClr val="5B6372"/>
                </a:solidFill>
                <a:latin typeface="Arial"/>
              </a:rPr>
              <a:t>Order received, no payment initiated — unpaid.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Processing</a:t>
            </a:r>
          </a:p>
          <a:p>
            <a:pPr algn="l">
              <a:spcAft>
                <a:spcPts val="300"/>
              </a:spcAft>
            </a:pPr>
            <a:r>
              <a:rPr sz="1100" b="0">
                <a:solidFill>
                  <a:srgbClr val="5B6372"/>
                </a:solidFill>
                <a:latin typeface="Arial"/>
              </a:rPr>
              <a:t>Payment received and stock reduced; awaiting fulfilment.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Completed</a:t>
            </a:r>
          </a:p>
          <a:p>
            <a:pPr algn="l">
              <a:spcAft>
                <a:spcPts val="300"/>
              </a:spcAft>
            </a:pPr>
            <a:r>
              <a:rPr sz="1100" b="0">
                <a:solidFill>
                  <a:srgbClr val="5B6372"/>
                </a:solidFill>
                <a:latin typeface="Arial"/>
              </a:rPr>
              <a:t>Order fulfilled — no further action required.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 hold</a:t>
            </a:r>
          </a:p>
          <a:p>
            <a:pPr algn="l">
              <a:spcAft>
                <a:spcPts val="300"/>
              </a:spcAft>
            </a:pPr>
            <a:r>
              <a:rPr sz="1100" b="0">
                <a:solidFill>
                  <a:srgbClr val="5B6372"/>
                </a:solidFill>
                <a:latin typeface="Arial"/>
              </a:rPr>
              <a:t>Stock is reduced, but you must confirm payment yourself.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Cancelled</a:t>
            </a:r>
          </a:p>
          <a:p>
            <a:pPr algn="l">
              <a:spcAft>
                <a:spcPts val="300"/>
              </a:spcAft>
            </a:pPr>
            <a:r>
              <a:rPr sz="1100" b="0">
                <a:solidFill>
                  <a:srgbClr val="5B6372"/>
                </a:solidFill>
                <a:latin typeface="Arial"/>
              </a:rPr>
              <a:t>Cancelled by admin or customer — stock is increased back.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Refunded / Failed</a:t>
            </a:r>
          </a:p>
          <a:p>
            <a:pPr algn="l">
              <a:spcAft>
                <a:spcPts val="300"/>
              </a:spcAft>
            </a:pPr>
            <a:r>
              <a:rPr sz="1100" b="0">
                <a:solidFill>
                  <a:srgbClr val="5B6372"/>
                </a:solidFill>
                <a:latin typeface="Arial"/>
              </a:rPr>
              <a:t>Refunded by an admin, or payment declined or requiring authentication.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Viewing Orders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view-orders.png"/>
          <p:cNvPicPr>
            <a:picLocks noChangeAspect="1"/>
          </p:cNvPicPr>
          <p:nvPr/>
        </p:nvPicPr>
        <p:blipFill>
          <a:blip r:embed="rId2"/>
          <a:stretch>
            <a:fillRect/>
          </a:stretch>
        </p:blipFill>
        <p:spPr>
          <a:xfrm>
            <a:off x="2249374" y="1737360"/>
            <a:ext cx="769020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Orders — number, customer, date, status, address and total.</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Screen Options and Filtering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creen-options.png"/>
          <p:cNvPicPr>
            <a:picLocks noChangeAspect="1"/>
          </p:cNvPicPr>
          <p:nvPr/>
        </p:nvPicPr>
        <p:blipFill>
          <a:blip r:embed="rId2"/>
          <a:stretch>
            <a:fillRect/>
          </a:stretch>
        </p:blipFill>
        <p:spPr>
          <a:xfrm>
            <a:off x="777240" y="2148959"/>
            <a:ext cx="10634472" cy="3337322"/>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Choose columns and rows, filter by date, search customers, and preview with the 'eye'.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Single Order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ingle-order.png"/>
          <p:cNvPicPr>
            <a:picLocks noChangeAspect="1"/>
          </p:cNvPicPr>
          <p:nvPr/>
        </p:nvPicPr>
        <p:blipFill>
          <a:blip r:embed="rId2"/>
          <a:stretch>
            <a:fillRect/>
          </a:stretch>
        </p:blipFill>
        <p:spPr>
          <a:xfrm>
            <a:off x="2280356" y="1737360"/>
            <a:ext cx="762824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View and edit everything — status, line items, taxes, coupons, fees and notes.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Order Data Panel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rder-data.png"/>
          <p:cNvPicPr>
            <a:picLocks noChangeAspect="1"/>
          </p:cNvPicPr>
          <p:nvPr/>
        </p:nvPicPr>
        <p:blipFill>
          <a:blip r:embed="rId2"/>
          <a:stretch>
            <a:fillRect/>
          </a:stretch>
        </p:blipFill>
        <p:spPr>
          <a:xfrm>
            <a:off x="3269048" y="1737360"/>
            <a:ext cx="565085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Modify the status, the customer note, and which user the order is assigned to.</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WHAT YOU CAN CHANGE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Editing a Single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Change status</a:t>
            </a:r>
          </a:p>
          <a:p>
            <a:pPr algn="l">
              <a:spcAft>
                <a:spcPts val="300"/>
              </a:spcAft>
            </a:pPr>
            <a:r>
              <a:rPr sz="1100" b="0">
                <a:solidFill>
                  <a:srgbClr val="5B6372"/>
                </a:solidFill>
                <a:latin typeface="Arial"/>
              </a:rPr>
              <a:t>Move the order through its lifecycle and trigger the customer emails.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Edit order items</a:t>
            </a:r>
          </a:p>
          <a:p>
            <a:pPr algn="l">
              <a:spcAft>
                <a:spcPts val="300"/>
              </a:spcAft>
            </a:pPr>
            <a:r>
              <a:rPr sz="1100" b="0">
                <a:solidFill>
                  <a:srgbClr val="5B6372"/>
                </a:solidFill>
                <a:latin typeface="Arial"/>
              </a:rPr>
              <a:t>Modify products, quantities, prices and taxes on an unpaid order.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Stock</a:t>
            </a:r>
          </a:p>
          <a:p>
            <a:pPr algn="l">
              <a:spcAft>
                <a:spcPts val="300"/>
              </a:spcAft>
            </a:pPr>
            <a:r>
              <a:rPr sz="1100" b="0">
                <a:solidFill>
                  <a:srgbClr val="5B6372"/>
                </a:solidFill>
                <a:latin typeface="Arial"/>
              </a:rPr>
              <a:t>Reduce or restore stock for the order directly from Order actions.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Apply coupons</a:t>
            </a:r>
          </a:p>
          <a:p>
            <a:pPr algn="l">
              <a:spcAft>
                <a:spcPts val="300"/>
              </a:spcAft>
            </a:pPr>
            <a:r>
              <a:rPr sz="1100" b="0">
                <a:solidFill>
                  <a:srgbClr val="5B6372"/>
                </a:solidFill>
                <a:latin typeface="Arial"/>
              </a:rPr>
              <a:t>Enter a known coupon code — the order must be unpaid for it to take effect.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Add a fee</a:t>
            </a:r>
          </a:p>
          <a:p>
            <a:pPr algn="l">
              <a:spcAft>
                <a:spcPts val="300"/>
              </a:spcAft>
            </a:pPr>
            <a:r>
              <a:rPr sz="1100" b="0">
                <a:solidFill>
                  <a:srgbClr val="5B6372"/>
                </a:solidFill>
                <a:latin typeface="Arial"/>
              </a:rPr>
              <a:t>Enter an amount or a percentage; negative fees apportion tax across items.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Order actions</a:t>
            </a:r>
          </a:p>
          <a:p>
            <a:pPr algn="l">
              <a:spcAft>
                <a:spcPts val="300"/>
              </a:spcAft>
            </a:pPr>
            <a:r>
              <a:rPr sz="1100" b="0">
                <a:solidFill>
                  <a:srgbClr val="5B6372"/>
                </a:solidFill>
                <a:latin typeface="Arial"/>
              </a:rPr>
              <a:t>Email order details to the customer, or regenerate download permissions.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an Order Manually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dd-order.png"/>
          <p:cNvPicPr>
            <a:picLocks noChangeAspect="1"/>
          </p:cNvPicPr>
          <p:nvPr/>
        </p:nvPicPr>
        <p:blipFill>
          <a:blip r:embed="rId2"/>
          <a:stretch>
            <a:fillRect/>
          </a:stretch>
        </p:blipFill>
        <p:spPr>
          <a:xfrm>
            <a:off x="1476929" y="1737360"/>
            <a:ext cx="923509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Orders &gt; Add order — for phone and offline sales.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REFUNDS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Refunding an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refund.png"/>
          <p:cNvPicPr>
            <a:picLocks noChangeAspect="1"/>
          </p:cNvPicPr>
          <p:nvPr/>
        </p:nvPicPr>
        <p:blipFill>
          <a:blip r:embed="rId2"/>
          <a:stretch>
            <a:fillRect/>
          </a:stretch>
        </p:blipFill>
        <p:spPr>
          <a:xfrm>
            <a:off x="2815951" y="1737360"/>
            <a:ext cx="655705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Open the order, click Refund, enter the amount and a reason, then Refund manually.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REFUNDS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Restocking Refunded Items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restock.png"/>
          <p:cNvPicPr>
            <a:picLocks noChangeAspect="1"/>
          </p:cNvPicPr>
          <p:nvPr/>
        </p:nvPicPr>
        <p:blipFill>
          <a:blip r:embed="rId2"/>
          <a:stretch>
            <a:fillRect/>
          </a:stretch>
        </p:blipFill>
        <p:spPr>
          <a:xfrm>
            <a:off x="1982903" y="1737360"/>
            <a:ext cx="822314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Tick 'Restock refunded items' so returned stock goes back into inventory.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COUPONS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 Coupon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dd-coupon.png"/>
          <p:cNvPicPr>
            <a:picLocks noChangeAspect="1"/>
          </p:cNvPicPr>
          <p:nvPr/>
        </p:nvPicPr>
        <p:blipFill>
          <a:blip r:embed="rId2"/>
          <a:stretch>
            <a:fillRect/>
          </a:stretch>
        </p:blipFill>
        <p:spPr>
          <a:xfrm>
            <a:off x="898900" y="1737360"/>
            <a:ext cx="1039115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Marketing &gt; Coupons &gt; Add coupon — enter or generate a unique code.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COUPONS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Coupon Discount Settings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discount-setting.png"/>
          <p:cNvPicPr>
            <a:picLocks noChangeAspect="1"/>
          </p:cNvPicPr>
          <p:nvPr/>
        </p:nvPicPr>
        <p:blipFill>
          <a:blip r:embed="rId2"/>
          <a:stretch>
            <a:fillRect/>
          </a:stretch>
        </p:blipFill>
        <p:spPr>
          <a:xfrm>
            <a:off x="1402550" y="1737360"/>
            <a:ext cx="938385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Discount type and amount, free shipping, and an expiry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GET THE ARITHMETIC RIGHT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Three Discount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Percentage discount</a:t>
            </a:r>
          </a:p>
          <a:p>
            <a:pPr algn="l">
              <a:spcAft>
                <a:spcPts val="300"/>
              </a:spcAft>
            </a:pPr>
            <a:r>
              <a:rPr sz="1100" b="0">
                <a:solidFill>
                  <a:srgbClr val="5B6372"/>
                </a:solidFill>
                <a:latin typeface="Arial"/>
              </a:rPr>
              <a:t>A share off the qualifying items. 3 shirts at $20 = $60; 10% off gives $6.</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Fixed cart discount</a:t>
            </a:r>
          </a:p>
          <a:p>
            <a:pPr algn="l">
              <a:spcAft>
                <a:spcPts val="300"/>
              </a:spcAft>
            </a:pPr>
            <a:r>
              <a:rPr sz="1100" b="0">
                <a:solidFill>
                  <a:srgbClr val="5B6372"/>
                </a:solidFill>
                <a:latin typeface="Arial"/>
              </a:rPr>
              <a:t>A flat sum off the whole cart. 3 shirts at $20 = $60; $10 off gives $10.</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Fixed product discount</a:t>
            </a:r>
          </a:p>
          <a:p>
            <a:pPr algn="l">
              <a:spcAft>
                <a:spcPts val="300"/>
              </a:spcAft>
            </a:pPr>
            <a:r>
              <a:rPr sz="1100" b="0">
                <a:solidFill>
                  <a:srgbClr val="5B6372"/>
                </a:solidFill>
                <a:latin typeface="Arial"/>
              </a:rPr>
              <a:t>A set amount off EACH qualifying item. 3 shirts, $10 off each, gives $30.</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Restrictions &amp; limits</a:t>
            </a:r>
          </a:p>
          <a:p>
            <a:pPr algn="l">
              <a:spcAft>
                <a:spcPts val="300"/>
              </a:spcAft>
            </a:pPr>
            <a:r>
              <a:rPr sz="1100" b="0">
                <a:solidFill>
                  <a:srgbClr val="5B6372"/>
                </a:solidFill>
                <a:latin typeface="Arial"/>
              </a:rPr>
              <a:t>Minimum spend, product and category limits, usage limit per coupon and per user.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Process Orders, Refunds and Coupons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Highlight and resolve issues related to sales, stock, refunds and promotions (A5, K5).</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Run the store as a shop manager. You walk an order through its statuses, edit and manually create orders, issue a refund that restocks the item, then build a coupon and prove it applies at checkout — the day-to-day issue resolution the CMS is used for.</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processed order, a completed refund with restocking, and a working discount coupon</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Orders, refunds and promotions are where customer problems surface. Resolving them quickly and correctly — with stock and revenue staying accurate — is the operational heart of the store.</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WooCommerce &gt; Orders · Order statuses · Refund · WooCommerce &gt; Coupons · Checkout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 WooCommerce Performance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Sales reports · Customer &amp; stock reports · Dashboard widgets · eCommerce metrics · Google Analytics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WooCommerce Reports</a:t>
            </a:r>
          </a:p>
          <a:p>
            <a:pPr algn="l">
              <a:spcAft>
                <a:spcPts val="300"/>
              </a:spcAft>
            </a:pPr>
            <a:r>
              <a:rPr sz="1100" b="0">
                <a:solidFill>
                  <a:srgbClr val="5B6372"/>
                </a:solidFill>
                <a:latin typeface="Arial"/>
              </a:rPr>
              <a:t>Orders, Customers, Stock and Taxes — the built-in view of how the store is performing.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Sales reports</a:t>
            </a:r>
          </a:p>
          <a:p>
            <a:pPr algn="l">
              <a:spcAft>
                <a:spcPts val="300"/>
              </a:spcAft>
            </a:pPr>
            <a:r>
              <a:rPr sz="1100" b="0">
                <a:solidFill>
                  <a:srgbClr val="5B6372"/>
                </a:solidFill>
                <a:latin typeface="Arial"/>
              </a:rPr>
              <a:t>Gross and net sales by date, product and category, plus top sellers, top earners and coupon usage.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Customer and stock reports</a:t>
            </a:r>
          </a:p>
          <a:p>
            <a:pPr algn="l">
              <a:spcAft>
                <a:spcPts val="300"/>
              </a:spcAft>
            </a:pPr>
            <a:r>
              <a:rPr sz="1100" b="0">
                <a:solidFill>
                  <a:srgbClr val="5B6372"/>
                </a:solidFill>
                <a:latin typeface="Arial"/>
              </a:rPr>
              <a:t>Customers versus guests, and low-stock, out-of-stock and on-backorder items.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Dashboard widgets</a:t>
            </a:r>
          </a:p>
          <a:p>
            <a:pPr algn="l">
              <a:spcAft>
                <a:spcPts val="300"/>
              </a:spcAft>
            </a:pPr>
            <a:r>
              <a:rPr sz="1100" b="0">
                <a:solidFill>
                  <a:srgbClr val="5B6372"/>
                </a:solidFill>
                <a:latin typeface="Arial"/>
              </a:rPr>
              <a:t>At-a-glance store status on the WordPress dashboard, configurable through Screen Options.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eCommerce metrics</a:t>
            </a:r>
          </a:p>
          <a:p>
            <a:pPr algn="l">
              <a:spcAft>
                <a:spcPts val="300"/>
              </a:spcAft>
            </a:pPr>
            <a:r>
              <a:rPr sz="1100" b="0">
                <a:solidFill>
                  <a:srgbClr val="5B6372"/>
                </a:solidFill>
                <a:latin typeface="Arial"/>
              </a:rPr>
              <a:t>Conversion rate, traffic, revenue by source, retention, repeat purchase and refund rate.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Google Analytics</a:t>
            </a:r>
          </a:p>
          <a:p>
            <a:pPr algn="l">
              <a:spcAft>
                <a:spcPts val="300"/>
              </a:spcAft>
            </a:pPr>
            <a:r>
              <a:rPr sz="1100" b="0">
                <a:solidFill>
                  <a:srgbClr val="5B6372"/>
                </a:solidFill>
                <a:latin typeface="Arial"/>
              </a:rPr>
              <a:t>Integrating analytics attributes revenue to channels and shows where customers drop off.</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REPORTS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reports.png"/>
          <p:cNvPicPr>
            <a:picLocks noChangeAspect="1"/>
          </p:cNvPicPr>
          <p:nvPr/>
        </p:nvPicPr>
        <p:blipFill>
          <a:blip r:embed="rId2"/>
          <a:stretch>
            <a:fillRect/>
          </a:stretch>
        </p:blipFill>
        <p:spPr>
          <a:xfrm>
            <a:off x="2991510" y="1737360"/>
            <a:ext cx="620593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Reports — Orders, Customers, Stock and Taxes.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REPORTS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Order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rder-report.png"/>
          <p:cNvPicPr>
            <a:picLocks noChangeAspect="1"/>
          </p:cNvPicPr>
          <p:nvPr/>
        </p:nvPicPr>
        <p:blipFill>
          <a:blip r:embed="rId2"/>
          <a:stretch>
            <a:fillRect/>
          </a:stretch>
        </p:blipFill>
        <p:spPr>
          <a:xfrm>
            <a:off x="3038255" y="1737360"/>
            <a:ext cx="611244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Sales by date, by product, by category, coupons by date and customer downloads.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REPORTS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Customer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customer-report.png"/>
          <p:cNvPicPr>
            <a:picLocks noChangeAspect="1"/>
          </p:cNvPicPr>
          <p:nvPr/>
        </p:nvPicPr>
        <p:blipFill>
          <a:blip r:embed="rId2"/>
          <a:stretch>
            <a:fillRect/>
          </a:stretch>
        </p:blipFill>
        <p:spPr>
          <a:xfrm>
            <a:off x="2903186" y="1737360"/>
            <a:ext cx="638258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Customers vs. Guests, and the customer list — sortable across time periods.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REPORTS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Stock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tock-report.png"/>
          <p:cNvPicPr>
            <a:picLocks noChangeAspect="1"/>
          </p:cNvPicPr>
          <p:nvPr/>
        </p:nvPicPr>
        <p:blipFill>
          <a:blip r:embed="rId2"/>
          <a:stretch>
            <a:fillRect/>
          </a:stretch>
        </p:blipFill>
        <p:spPr>
          <a:xfrm>
            <a:off x="777240" y="2576670"/>
            <a:ext cx="10634472" cy="248190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Low in stock, out of stock, and most stocked — lost revenue you can prevent.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DASHBOARD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Dashboard Widgets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dashboard-widgets.png"/>
          <p:cNvPicPr>
            <a:picLocks noChangeAspect="1"/>
          </p:cNvPicPr>
          <p:nvPr/>
        </p:nvPicPr>
        <p:blipFill>
          <a:blip r:embed="rId2"/>
          <a:stretch>
            <a:fillRect/>
          </a:stretch>
        </p:blipFill>
        <p:spPr>
          <a:xfrm>
            <a:off x="777240" y="3168357"/>
            <a:ext cx="10634472" cy="1298525"/>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adds status widgets to the WordPress dashboard; tune them via Screen Options.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WHAT TO MEASURE  ·  K6, K7</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Metrics for a Successful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Sales &amp; revenue</a:t>
            </a:r>
          </a:p>
          <a:p>
            <a:pPr algn="l">
              <a:spcAft>
                <a:spcPts val="300"/>
              </a:spcAft>
            </a:pPr>
            <a:r>
              <a:rPr sz="1100" b="0">
                <a:solidFill>
                  <a:srgbClr val="5B6372"/>
                </a:solidFill>
                <a:latin typeface="Arial"/>
              </a:rPr>
              <a:t>Gross and net sales, revenue by traffic source, and average order value.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Conversion</a:t>
            </a:r>
          </a:p>
          <a:p>
            <a:pPr algn="l">
              <a:spcAft>
                <a:spcPts val="300"/>
              </a:spcAft>
            </a:pPr>
            <a:r>
              <a:rPr sz="1100" b="0">
                <a:solidFill>
                  <a:srgbClr val="5B6372"/>
                </a:solidFill>
                <a:latin typeface="Arial"/>
              </a:rPr>
              <a:t>Sales conversion rate — the share of visitors who actually buy.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Traffic</a:t>
            </a:r>
          </a:p>
          <a:p>
            <a:pPr algn="l">
              <a:spcAft>
                <a:spcPts val="300"/>
              </a:spcAft>
            </a:pPr>
            <a:r>
              <a:rPr sz="1100" b="0">
                <a:solidFill>
                  <a:srgbClr val="5B6372"/>
                </a:solidFill>
                <a:latin typeface="Arial"/>
              </a:rPr>
              <a:t>Website traffic and organic acquisition traffic.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Engagement</a:t>
            </a:r>
          </a:p>
          <a:p>
            <a:pPr algn="l">
              <a:spcAft>
                <a:spcPts val="300"/>
              </a:spcAft>
            </a:pPr>
            <a:r>
              <a:rPr sz="1100" b="0">
                <a:solidFill>
                  <a:srgbClr val="5B6372"/>
                </a:solidFill>
                <a:latin typeface="Arial"/>
              </a:rPr>
              <a:t>Email click-through rate, email subscription rate and social media engagement.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Loyalty</a:t>
            </a:r>
          </a:p>
          <a:p>
            <a:pPr algn="l">
              <a:spcAft>
                <a:spcPts val="300"/>
              </a:spcAft>
            </a:pPr>
            <a:r>
              <a:rPr sz="1100" b="0">
                <a:solidFill>
                  <a:srgbClr val="5B6372"/>
                </a:solidFill>
                <a:latin typeface="Arial"/>
              </a:rPr>
              <a:t>Customer retention rate and repeat customer rate.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Problems</a:t>
            </a:r>
          </a:p>
          <a:p>
            <a:pPr algn="l">
              <a:spcAft>
                <a:spcPts val="300"/>
              </a:spcAft>
            </a:pPr>
            <a:r>
              <a:rPr sz="1100" b="0">
                <a:solidFill>
                  <a:srgbClr val="5B6372"/>
                </a:solidFill>
                <a:latin typeface="Arial"/>
              </a:rPr>
              <a:t>Refund and return rate, and customer enquiries.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05 · CHOOSING WHAT TO TRACK  ·  K7</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Criteria for Evaluating a Metric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Actionable</a:t>
            </a:r>
          </a:p>
          <a:p>
            <a:pPr algn="l">
              <a:spcAft>
                <a:spcPts val="300"/>
              </a:spcAft>
            </a:pPr>
            <a:r>
              <a:rPr sz="1200" b="0">
                <a:solidFill>
                  <a:srgbClr val="5B6372"/>
                </a:solidFill>
                <a:latin typeface="Arial"/>
              </a:rPr>
              <a:t>Does a change in this number tell somebody to do something differently?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Comparable</a:t>
            </a:r>
          </a:p>
          <a:p>
            <a:pPr algn="l">
              <a:spcAft>
                <a:spcPts val="300"/>
              </a:spcAft>
            </a:pPr>
            <a:r>
              <a:rPr sz="1200" b="0">
                <a:solidFill>
                  <a:srgbClr val="5B6372"/>
                </a:solidFill>
                <a:latin typeface="Arial"/>
              </a:rPr>
              <a:t>Can you track it consistently over time and against a target?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Attributable</a:t>
            </a:r>
          </a:p>
          <a:p>
            <a:pPr algn="l">
              <a:spcAft>
                <a:spcPts val="300"/>
              </a:spcAft>
            </a:pPr>
            <a:r>
              <a:rPr sz="1200" b="0">
                <a:solidFill>
                  <a:srgbClr val="5B6372"/>
                </a:solidFill>
                <a:latin typeface="Arial"/>
              </a:rPr>
              <a:t>Can you tell which channel, campaign or product caused the movement?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Owned</a:t>
            </a:r>
          </a:p>
          <a:p>
            <a:pPr algn="l">
              <a:spcAft>
                <a:spcPts val="300"/>
              </a:spcAft>
            </a:pPr>
            <a:r>
              <a:rPr sz="1200" b="0">
                <a:solidFill>
                  <a:srgbClr val="5B6372"/>
                </a:solidFill>
                <a:latin typeface="Arial"/>
              </a:rPr>
              <a:t>Is there a person responsible for it, and a threshold that triggers a response?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Extensions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extensions.png"/>
          <p:cNvPicPr>
            <a:picLocks noChangeAspect="1"/>
          </p:cNvPicPr>
          <p:nvPr/>
        </p:nvPicPr>
        <p:blipFill>
          <a:blip r:embed="rId2"/>
          <a:stretch>
            <a:fillRect/>
          </a:stretch>
        </p:blipFill>
        <p:spPr>
          <a:xfrm>
            <a:off x="979983" y="1737360"/>
            <a:ext cx="1022898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https://woocommerce.com/product-category/woocommerce-extensions/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Recommended Free Plugins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ree-plugins.png"/>
          <p:cNvPicPr>
            <a:picLocks noChangeAspect="1"/>
          </p:cNvPicPr>
          <p:nvPr/>
        </p:nvPicPr>
        <p:blipFill>
          <a:blip r:embed="rId2"/>
          <a:stretch>
            <a:fillRect/>
          </a:stretch>
        </p:blipFill>
        <p:spPr>
          <a:xfrm>
            <a:off x="4159670" y="1737360"/>
            <a:ext cx="386961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Admin, Mailchimp for WooCommerce, Facebook for WooCommerce and Automated Taxes.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ANALYTICS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Google Analytics Integration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google-analytics.png"/>
          <p:cNvPicPr>
            <a:picLocks noChangeAspect="1"/>
          </p:cNvPicPr>
          <p:nvPr/>
        </p:nvPicPr>
        <p:blipFill>
          <a:blip r:embed="rId2"/>
          <a:stretch>
            <a:fillRect/>
          </a:stretch>
        </p:blipFill>
        <p:spPr>
          <a:xfrm>
            <a:off x="1677996" y="1737360"/>
            <a:ext cx="883296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https://wordpress.org/plugins/woocommerce-google-analytics-integration/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Subscriptions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ubscriptions.png"/>
          <p:cNvPicPr>
            <a:picLocks noChangeAspect="1"/>
          </p:cNvPicPr>
          <p:nvPr/>
        </p:nvPicPr>
        <p:blipFill>
          <a:blip r:embed="rId2"/>
          <a:stretch>
            <a:fillRect/>
          </a:stretch>
        </p:blipFill>
        <p:spPr>
          <a:xfrm>
            <a:off x="1638019" y="1737360"/>
            <a:ext cx="891291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Recurring revenue — https://woocommerce.com/products/woocommerce-subscriptions/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Bookings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bookings.png"/>
          <p:cNvPicPr>
            <a:picLocks noChangeAspect="1"/>
          </p:cNvPicPr>
          <p:nvPr/>
        </p:nvPicPr>
        <p:blipFill>
          <a:blip r:embed="rId2"/>
          <a:stretch>
            <a:fillRect/>
          </a:stretch>
        </p:blipFill>
        <p:spPr>
          <a:xfrm>
            <a:off x="1537928" y="1737360"/>
            <a:ext cx="911309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Sell time and appointments — https://woocommerce.com/products/woocommerce-bookings/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Memberships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memberships.png"/>
          <p:cNvPicPr>
            <a:picLocks noChangeAspect="1"/>
          </p:cNvPicPr>
          <p:nvPr/>
        </p:nvPicPr>
        <p:blipFill>
          <a:blip r:embed="rId2"/>
          <a:stretch>
            <a:fillRect/>
          </a:stretch>
        </p:blipFill>
        <p:spPr>
          <a:xfrm>
            <a:off x="1675002" y="1737360"/>
            <a:ext cx="8838947"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Gate content and offers — https://woocommerce.com/products/woocommerce-memberships/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Measure Store Performance with Reports and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Develop and review metrics to measure the performance of the store (A2, K6, K7).</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Turn the store's activity into evidence. You read the Orders, Customers, Stock and Taxes reports, arrange the dashboard widgets a manager would want, install the Google Analytics integration, and select the handful of metrics you would actually use to judge whether the store is succeeding.</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reviewed set of store reports, a configured dashboard, and a defined list of performance metrics</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Metrics are only useful if they change a decision. Choosing which few to track — and knowing what each one would tell you — is what separates a measured store from a busy one.</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WooCommerce &gt; Reports · Analytics · Dashboard widgets · Screen Options · Google Analytics plugin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05 · DISCUSSION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Discussion — Metrics to Measure Store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15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Decide which metrics you would use to judge whether the store is succeeding, and what criteria make a metric worth tracking at all.</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three metrics would you put in front of the business owner every week?</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makes a metric useful — is it actionable, comparable, and tied to a decision?</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does a rising refund rate or a falling repeat-customer rate actually tell you?</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report or tool produces each metric — WooCommerce Reports or Google Analytics?</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shortlist of performance metrics with the criteria used to select them and their data source.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LO1 · Setup and monitor</a:t>
            </a:r>
          </a:p>
          <a:p>
            <a:pPr algn="l">
              <a:spcAft>
                <a:spcPts val="300"/>
              </a:spcAft>
            </a:pPr>
            <a:r>
              <a:rPr sz="1000" b="0">
                <a:solidFill>
                  <a:srgbClr val="5B6372"/>
                </a:solidFill>
                <a:latin typeface="Arial"/>
              </a:rPr>
              <a:t>Installed WooCommerce, applied a theme, and set currency, tax and permissions.</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LO2 · Edit and curate</a:t>
            </a:r>
          </a:p>
          <a:p>
            <a:pPr algn="l">
              <a:spcAft>
                <a:spcPts val="300"/>
              </a:spcAft>
            </a:pPr>
            <a:r>
              <a:rPr sz="1000" b="0">
                <a:solidFill>
                  <a:srgbClr val="5B6372"/>
                </a:solidFill>
                <a:latin typeface="Arial"/>
              </a:rPr>
              <a:t>Created products with descriptions, images, galleries, categories and tags.</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LO3 · Maintain content</a:t>
            </a:r>
          </a:p>
          <a:p>
            <a:pPr algn="l">
              <a:spcAft>
                <a:spcPts val="300"/>
              </a:spcAft>
            </a:pPr>
            <a:r>
              <a:rPr sz="1000" b="0">
                <a:solidFill>
                  <a:srgbClr val="5B6372"/>
                </a:solidFill>
                <a:latin typeface="Arial"/>
              </a:rPr>
              <a:t>Built variable products and bulk-updated the catalogue by CSV.</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LO4 · Payments &amp; shipping</a:t>
            </a:r>
          </a:p>
          <a:p>
            <a:pPr algn="l">
              <a:spcAft>
                <a:spcPts val="300"/>
              </a:spcAft>
            </a:pPr>
            <a:r>
              <a:rPr sz="1000" b="0">
                <a:solidFill>
                  <a:srgbClr val="5B6372"/>
                </a:solidFill>
                <a:latin typeface="Arial"/>
              </a:rPr>
              <a:t>Configured gateways and a shipping zone with three delivery options.</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LO5 · Manage issues</a:t>
            </a:r>
          </a:p>
          <a:p>
            <a:pPr algn="l">
              <a:spcAft>
                <a:spcPts val="300"/>
              </a:spcAft>
            </a:pPr>
            <a:r>
              <a:rPr sz="1000" b="0">
                <a:solidFill>
                  <a:srgbClr val="5B6372"/>
                </a:solidFill>
                <a:latin typeface="Arial"/>
              </a:rPr>
              <a:t>Processed orders, issued a refund with restocking, and ran a coupon promotion.</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LO6 · Manage performance</a:t>
            </a:r>
          </a:p>
          <a:p>
            <a:pPr algn="l">
              <a:spcAft>
                <a:spcPts val="300"/>
              </a:spcAft>
            </a:pPr>
            <a:r>
              <a:rPr sz="1000" b="0">
                <a:solidFill>
                  <a:srgbClr val="5B6372"/>
                </a:solidFill>
                <a:latin typeface="Arial"/>
              </a:rPr>
              <a:t>Read the sales, customer and stock reports and defined a metric set.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AFTER TODAY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Your Next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Keep building your store</a:t>
            </a:r>
          </a:p>
          <a:p>
            <a:pPr algn="l">
              <a:spcAft>
                <a:spcPts val="300"/>
              </a:spcAft>
            </a:pPr>
            <a:r>
              <a:rPr sz="1200" b="0">
                <a:solidFill>
                  <a:srgbClr val="5B6372"/>
                </a:solidFill>
                <a:latin typeface="Arial"/>
              </a:rPr>
              <a:t>Your WooCommerce site and catalogue stay yours after the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Launch with a real product</a:t>
            </a:r>
          </a:p>
          <a:p>
            <a:pPr algn="l">
              <a:spcAft>
                <a:spcPts val="300"/>
              </a:spcAft>
            </a:pPr>
            <a:r>
              <a:rPr sz="1200" b="0">
                <a:solidFill>
                  <a:srgbClr val="5B6372"/>
                </a:solidFill>
                <a:latin typeface="Arial"/>
              </a:rPr>
              <a:t>Pick one product, price it properly, and take a real order.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Revisit the Learner Guide</a:t>
            </a:r>
          </a:p>
          <a:p>
            <a:pPr algn="l">
              <a:spcAft>
                <a:spcPts val="300"/>
              </a:spcAft>
            </a:pPr>
            <a:r>
              <a:rPr sz="1200" b="0">
                <a:solidFill>
                  <a:srgbClr val="5B6372"/>
                </a:solidFill>
                <a:latin typeface="Arial"/>
              </a:rPr>
              <a:t>Every lab's step-by-step instructions are there for you to repeat.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Explore the documentation</a:t>
            </a:r>
          </a:p>
          <a:p>
            <a:pPr algn="l">
              <a:spcAft>
                <a:spcPts val="300"/>
              </a:spcAft>
            </a:pPr>
            <a:r>
              <a:rPr sz="1200" b="0">
                <a:solidFill>
                  <a:srgbClr val="5B6372"/>
                </a:solidFill>
                <a:latin typeface="Arial"/>
              </a:rPr>
              <a:t>Official guides at https://woocommerce.com/documentation/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YOUR LEARNING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Search Engine Optimization (SEO)</a:t>
            </a:r>
          </a:p>
          <a:p>
            <a:pPr algn="l">
              <a:spcAft>
                <a:spcPts val="300"/>
              </a:spcAft>
            </a:pPr>
            <a:r>
              <a:rPr sz="1100" b="0">
                <a:solidFill>
                  <a:srgbClr val="5B6372"/>
                </a:solidFill>
                <a:latin typeface="Arial"/>
              </a:rPr>
              <a:t>Enhance brand awareness and drive organic traffic to your new store.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Email Campaigns with Mailchimp</a:t>
            </a:r>
          </a:p>
          <a:p>
            <a:pPr algn="l">
              <a:spcAft>
                <a:spcPts val="300"/>
              </a:spcAft>
            </a:pPr>
            <a:r>
              <a:rPr sz="1100" b="0">
                <a:solidFill>
                  <a:srgbClr val="5B6372"/>
                </a:solidFill>
                <a:latin typeface="Arial"/>
              </a:rPr>
              <a:t>Turn your customer list into repeat revenue with high-converting campaigns.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Professional Websites with WordPress</a:t>
            </a:r>
          </a:p>
          <a:p>
            <a:pPr algn="l">
              <a:spcAft>
                <a:spcPts val="300"/>
              </a:spcAft>
            </a:pPr>
            <a:r>
              <a:rPr sz="1100" b="0">
                <a:solidFill>
                  <a:srgbClr val="5B6372"/>
                </a:solidFill>
                <a:latin typeface="Arial"/>
              </a:rPr>
              <a:t>Deepen the CMS skills underneath WooCommerce.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SEO for Small and Medium Enterprises</a:t>
            </a:r>
          </a:p>
          <a:p>
            <a:pPr algn="l">
              <a:spcAft>
                <a:spcPts val="300"/>
              </a:spcAft>
            </a:pPr>
            <a:r>
              <a:rPr sz="1100" b="0">
                <a:solidFill>
                  <a:srgbClr val="5B6372"/>
                </a:solidFill>
                <a:latin typeface="Arial"/>
              </a:rPr>
              <a:t>Practical search optimisation scoped to an SME budget.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Innovation with Blockchain</a:t>
            </a:r>
          </a:p>
          <a:p>
            <a:pPr algn="l">
              <a:spcAft>
                <a:spcPts val="300"/>
              </a:spcAft>
            </a:pPr>
            <a:r>
              <a:rPr sz="1100" b="0">
                <a:solidFill>
                  <a:srgbClr val="5B6372"/>
                </a:solidFill>
                <a:latin typeface="Arial"/>
              </a:rPr>
              <a:t>Explore emerging technology for commerce and payments.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Full catalogue</a:t>
            </a:r>
          </a:p>
          <a:p>
            <a:pPr algn="l">
              <a:spcAft>
                <a:spcPts val="300"/>
              </a:spcAft>
            </a:pPr>
            <a:r>
              <a:rPr sz="1100" b="0">
                <a:solidFill>
                  <a:srgbClr val="5B6372"/>
                </a:solidFill>
                <a:latin typeface="Arial"/>
              </a:rPr>
              <a:t>Browse everything at www.tertiarycourses.com.sg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Summary &amp; Q&amp;A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platform</a:t>
            </a:r>
          </a:p>
          <a:p>
            <a:pPr algn="l">
              <a:spcAft>
                <a:spcPts val="300"/>
              </a:spcAft>
            </a:pPr>
            <a:r>
              <a:rPr sz="1100" b="0">
                <a:solidFill>
                  <a:srgbClr val="5B6372"/>
                </a:solidFill>
                <a:latin typeface="Arial"/>
              </a:rPr>
              <a:t>WooCommerce turns WordPress into a complete, fully customisable online store.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content</a:t>
            </a:r>
          </a:p>
          <a:p>
            <a:pPr algn="l">
              <a:spcAft>
                <a:spcPts val="300"/>
              </a:spcAft>
            </a:pPr>
            <a:r>
              <a:rPr sz="1100" b="0">
                <a:solidFill>
                  <a:srgbClr val="5B6372"/>
                </a:solidFill>
                <a:latin typeface="Arial"/>
              </a:rPr>
              <a:t>Products, categories, attributes and variations are what you curate and maintain.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commerce</a:t>
            </a:r>
          </a:p>
          <a:p>
            <a:pPr algn="l">
              <a:spcAft>
                <a:spcPts val="300"/>
              </a:spcAft>
            </a:pPr>
            <a:r>
              <a:rPr sz="1100" b="0">
                <a:solidFill>
                  <a:srgbClr val="5B6372"/>
                </a:solidFill>
                <a:latin typeface="Arial"/>
              </a:rPr>
              <a:t>Payments and shipping are customer-experience decisions that shape conversion.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operations</a:t>
            </a:r>
          </a:p>
          <a:p>
            <a:pPr algn="l">
              <a:spcAft>
                <a:spcPts val="300"/>
              </a:spcAft>
            </a:pPr>
            <a:r>
              <a:rPr sz="1100" b="0">
                <a:solidFill>
                  <a:srgbClr val="5B6372"/>
                </a:solidFill>
                <a:latin typeface="Arial"/>
              </a:rPr>
              <a:t>Orders, refunds and coupons are the day-to-day issues a store manager resolves.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evidence</a:t>
            </a:r>
          </a:p>
          <a:p>
            <a:pPr algn="l">
              <a:spcAft>
                <a:spcPts val="300"/>
              </a:spcAft>
            </a:pPr>
            <a:r>
              <a:rPr sz="1100" b="0">
                <a:solidFill>
                  <a:srgbClr val="5B6372"/>
                </a:solidFill>
                <a:latin typeface="Arial"/>
              </a:rPr>
              <a:t>Reports and analytics tell you whether any of it is actually working.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Over to you</a:t>
            </a:r>
          </a:p>
          <a:p>
            <a:pPr algn="l">
              <a:spcAft>
                <a:spcPts val="300"/>
              </a:spcAft>
            </a:pPr>
            <a:r>
              <a:rPr sz="1100" b="0">
                <a:solidFill>
                  <a:srgbClr val="5B6372"/>
                </a:solidFill>
                <a:latin typeface="Arial"/>
              </a:rPr>
              <a:t>Any questions before the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 · 90 MINUTES TOTAL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Practical Performance — 75 min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and manage a WooCommerce store</a:t>
            </a:r>
          </a:p>
          <a:p>
            <a:pPr>
              <a:spcAft>
                <a:spcPts val="900"/>
              </a:spcAft>
            </a:pPr>
            <a:r>
              <a:rPr sz="1400" b="0">
                <a:solidFill>
                  <a:srgbClr val="161B26"/>
                </a:solidFill>
                <a:latin typeface="Arial"/>
              </a:rPr>
              <a:t>•  Assesses abilities A1–A6</a:t>
            </a:r>
          </a:p>
          <a:p>
            <a:pPr>
              <a:spcAft>
                <a:spcPts val="900"/>
              </a:spcAft>
            </a:pPr>
            <a:r>
              <a:rPr sz="1400" b="0">
                <a:solidFill>
                  <a:srgbClr val="161B26"/>
                </a:solidFill>
                <a:latin typeface="Arial"/>
              </a:rPr>
              <a:t>•  Open book, done individually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Oral Questioning — 15 min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Open-ended questions, 1:1</a:t>
            </a:r>
          </a:p>
          <a:p>
            <a:pPr>
              <a:spcAft>
                <a:spcPts val="900"/>
              </a:spcAft>
            </a:pPr>
            <a:r>
              <a:rPr sz="1400" b="0">
                <a:solidFill>
                  <a:srgbClr val="161B26"/>
                </a:solidFill>
                <a:latin typeface="Arial"/>
              </a:rPr>
              <a:t>•  Assesses knowledge K1–K7</a:t>
            </a:r>
          </a:p>
          <a:p>
            <a:pPr>
              <a:spcAft>
                <a:spcPts val="900"/>
              </a:spcAft>
            </a:pPr>
            <a:r>
              <a:rPr sz="1400" b="0">
                <a:solidFill>
                  <a:srgbClr val="161B26"/>
                </a:solidFill>
                <a:latin typeface="Arial"/>
              </a:rPr>
              <a:t>•  Open book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Before you begin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Take the Assessment digital attendance</a:t>
            </a:r>
          </a:p>
          <a:p>
            <a:pPr>
              <a:spcAft>
                <a:spcPts val="900"/>
              </a:spcAft>
            </a:pPr>
            <a:r>
              <a:rPr sz="1400" b="0">
                <a:solidFill>
                  <a:srgbClr val="161B26"/>
                </a:solidFill>
                <a:latin typeface="Arial"/>
              </a:rPr>
              <a:t>•  Complete the TRAQOM survey</a:t>
            </a:r>
          </a:p>
          <a:p>
            <a:pPr>
              <a:spcAft>
                <a:spcPts val="900"/>
              </a:spcAft>
            </a:pPr>
            <a:r>
              <a:rPr sz="1400" b="0">
                <a:solidFill>
                  <a:srgbClr val="161B26"/>
                </a:solidFill>
                <a:latin typeface="Arial"/>
              </a:rPr>
              <a:t>•  Slides + Learner Guide allowed</a:t>
            </a:r>
          </a:p>
          <a:p>
            <a:pPr>
              <a:spcAft>
                <a:spcPts val="900"/>
              </a:spcAft>
            </a:pPr>
            <a:r>
              <a:rPr sz="1400" b="0">
                <a:solidFill>
                  <a:srgbClr val="161B26"/>
                </a:solidFill>
                <a:latin typeface="Arial"/>
              </a:rPr>
              <a:t>•  Submit as directed by your assessor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Complete the Practical Performance — 75 min</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Answer the Oral Questioning — 15 min, 1:1</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work as directed</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Digital Attendance &amp; TRAQOM Survey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Assessment attendance</a:t>
            </a:r>
          </a:p>
          <a:p>
            <a:pPr algn="l">
              <a:spcAft>
                <a:spcPts val="300"/>
              </a:spcAft>
            </a:pPr>
            <a:r>
              <a:rPr sz="1200" b="0">
                <a:solidFill>
                  <a:srgbClr val="5B6372"/>
                </a:solidFill>
                <a:latin typeface="Arial"/>
              </a:rPr>
              <a:t>Take the Assessment digital attendance before you begin — scan the SSG QR code.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Cert &amp; TRAQOM survey</a:t>
            </a:r>
          </a:p>
          <a:p>
            <a:pPr algn="l">
              <a:spcAft>
                <a:spcPts val="300"/>
              </a:spcAft>
            </a:pPr>
            <a:r>
              <a:rPr sz="1200" b="0">
                <a:solidFill>
                  <a:srgbClr val="5B6372"/>
                </a:solidFill>
                <a:latin typeface="Arial"/>
              </a:rPr>
              <a:t>Complete the mandatory survey at https://lms-tms.tertiaryinfotech.com/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Your certificate</a:t>
            </a:r>
          </a:p>
          <a:p>
            <a:pPr algn="l">
              <a:spcAft>
                <a:spcPts val="300"/>
              </a:spcAft>
            </a:pPr>
            <a:r>
              <a:rPr sz="1200" b="0">
                <a:solidFill>
                  <a:srgbClr val="5B6372"/>
                </a:solidFill>
                <a:latin typeface="Arial"/>
              </a:rPr>
              <a:t>Your certificate is issued through the LMS once you are assessed Competent.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75% minimum</a:t>
            </a:r>
          </a:p>
          <a:p>
            <a:pPr algn="l">
              <a:spcAft>
                <a:spcPts val="300"/>
              </a:spcAft>
            </a:pPr>
            <a:r>
              <a:rPr sz="12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Email</a:t>
            </a:r>
          </a:p>
          <a:p>
            <a:pPr algn="l">
              <a:spcAft>
                <a:spcPts val="300"/>
              </a:spcAft>
            </a:pPr>
            <a:r>
              <a:rPr sz="1300" b="0">
                <a:solidFill>
                  <a:srgbClr val="5B6372"/>
                </a:solidFill>
                <a:latin typeface="Arial"/>
              </a:rPr>
              <a:t>enquiry@tertiaryinfotech.com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Telephone</a:t>
            </a:r>
          </a:p>
          <a:p>
            <a:pPr algn="l">
              <a:spcAft>
                <a:spcPts val="300"/>
              </a:spcAft>
            </a:pPr>
            <a:r>
              <a:rPr sz="13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Website</a:t>
            </a:r>
          </a:p>
          <a:p>
            <a:pPr algn="l">
              <a:spcAft>
                <a:spcPts val="300"/>
              </a:spcAft>
            </a:pPr>
            <a:r>
              <a:rPr sz="1300" b="0">
                <a:solidFill>
                  <a:srgbClr val="5B6372"/>
                </a:solidFill>
                <a:latin typeface="Arial"/>
              </a:rPr>
              <a:t>www.tertiarycourses.com.sg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LMS / TMS portal</a:t>
            </a:r>
          </a:p>
          <a:p>
            <a:pPr algn="l">
              <a:spcAft>
                <a:spcPts val="300"/>
              </a:spcAft>
            </a:pPr>
            <a:r>
              <a:rPr sz="1300" b="0">
                <a:solidFill>
                  <a:srgbClr val="5B6372"/>
                </a:solidFill>
                <a:latin typeface="Arial"/>
              </a:rPr>
              <a:t>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build, run and measure a complete eCommerce store with WooCommerce.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